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Head of Department Dr. Mrs. Yerokun, my esteemed supervisor Mr. Owoeye, distinguished external examiner, and members of the academic faculty. My name is Olushola Emmanuel Savi, with Matriculation Number 220903032. Today, I present my final year project defense titled: 'Design and Implementation of a Social Media Sentiment Analysis System for Election Monitoring and Candidate Perception Tracking: A Case Study of the 2027 Gubernatorial Elections in Nigeria'. This project engineers a full-stack, dual-engine natural language processing platform that captures, classifies, and visualizes real-time public opinion across social media and news comment sections.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Nigeria today, political campaigns and citizen debates no longer live solely on terrestrial radio or billboards. As we approach the 2027 Gubernatorial elections, platforms like X, YouTube comments, Facebook, and online newspaper comment sections have become the primary battlegrounds. However, the volume and velocity of this data create an enormous computational challenge. Humans cannot manually read and quantify tens of thousands of daily posts. This research resolves that challenge by using modern Natural Language Processing to convert chaotic online chatter into clean, quantifiable public perception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 we need to engineer a new system? As shown on this slide, traditional public polling is too slow and expensive—it takes weeks to tabulate results, by which time campaign dynamics have changed. Furthermore, social media in Nigeria is linguistically unique: people use slang, emojis, exclamation marks, and party nicknames. Commercial suites like Brandwatch cost up to $40,000 annually and do not understand Nigerian political entities. Our project addresses all six of these fundamental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aim was to design and implement an end-to-end, production-ready sentiment monitoring platform for the 2027 elections. To achieve this aim, we formulated six concrete technical objectives: First, multi-source ingestion across 4 platforms. Second, candidate Named Entity Recognition to map aliases automatically. Third, dual-engine NLP classification combining VADER and DistilBERT. Fourth, interactive visual analytics including Net Sentiment Index and Word Clouds. Fifth, a live NLP sandbox and CSV export engine. And sixth, rigorous empirical testing and model evaluation.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technical innovation in our project is the Dual-Engine NLP architecture. Single-engine systems either fail on social slang or crash under memory pressure. We combined NLTK VADER and Hugging Face DistilBERT. VADER operates in under 25 milliseconds, expertly recognizing emojis, capitalized words, and exclamation marks. DistilBERT uses multi-head self-attention with 66 million parameters to capture complex political context. Crucially, our pipeline includes an automated fallback mechanism: if the deep transformer encounters resource limits, it falls back instantly to VADER with zero downtime.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illustrates our four-tier decoupled system architecture. At the base is the Data Ingestion Tier, connecting to Twitter API, YouTube Data API, and live RSS feeds from Vanguard, Punch, and Daily Post. Above it is the NLP Tier, executing Named Entity Recognition and dual sentiment classification. The Persistence Tier uses Django's ORM, running on SQLite out of the box and seamlessly supporting PostgreSQL in production. Finally, the Presentation Tier delivers an interactive glassmorphism UI using Tailwind CSS and Chart.js.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the system know which candidate a tweet or comment is talking about? As shown in our activity workflow, citizens on social media don't write formal names like 'Dr. Kadri Obafemi Hamzat'—they write 'Hamzat'. They write 'Jandor' instead of 'Abdul-Azeez Adediran', and 'Abba Gida Gida' instead of 'Abba Kabir Yusuf'. Our Named Entity Recognition matcher scans incoming text against candidate alias dictionaries, automatically binding the post to the correct candidate and their 2027 state race in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examine the Relational Database Schema. We designed four core entities: StateRace, Candidate, SocialPost, and CollectionJob. Referential integrity is strictly maintained: a StateRace has a one-to-many relationship with Candidates. A Candidate has a one-to-many relationship with SocialPosts. We also added composite database indexes on platform, sentiment label, and published date, allowing complex rolling time-series and leaderboard aggregations to execute in milliseconds without database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showcases the deployed user interface and analytical leaderboard. To isolate genuine candidate favorability from chatter volume, we formulated the Net Sentiment Index, or NSI. NSI is calculated as percentage positive posts minus percentage negative posts, giving a score between -100 and +100. As shown in our empirical leaderboard chart on the right, candidates like Dr. Kadri Obafemi Hamzat hold a +42.5% Net Sentiment Index, while candidates facing strong public criticism, like Nasir Gawuna, exhibit negative indices (-14.5%).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static charts, the platform provides rich interactive tools. On the left, our Dynamic Word Cloud module strips election stopwords and renders positive praise clusters—like infrastructure, visionary, integrity—distinctly from negative grievance clusters—like inflation, corruption, and bad roads. On the right is our Real-Time NLP Sandbox. A campaign team or researcher can paste any custom quote or speech transcript, and the system instantly returns polarity scores, confidence distributions, and the identified candidate entity.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Rigorous testing and evaluation were central to our research. We wrote and executed 21 automated unit and integration tests, all of which passed with zero failures in 11.3 seconds. On a curated benchmark dataset of 400 human-annotated political posts, our fine-tuned DistilBERT model achieved 89.8% accuracy and an F1-score of 0.895, while VADER achieved 80.5% accuracy with sub-25 millisecond latency. Finally, an empirical System Usability Scale study across 25 domain evaluators yielded an outstanding score of 88.4 out of 100, confirming exceptional real-world usability.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development, we solved major challenges including social media API paywalls (by creating a hybrid RSS and simulation engine) and transformer latency (by distilling to DistilBERT with VADER failover). Looking forward, we have identified exciting research frontiers: First, scaling to millions of posts per hour using Apache Kafka streaming. Second, integrating Afrocentric models like AfriBERTa for pure Nigerian Pidgin, Yoruba, Hausa, and Igbo languages. Third, GIS geospatial heatmaps down to Local Government Areas. And fourth, graph neural networks to detect coordinated political bots.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project proves that Natural Language Processing and modern web engineering can revolutionize democratic election oversight in Nigeria. By transforming fragmented political commentary into rigorous sentiment intelligence, the platform promotes democratic transparency and provides all stakeholders with actionable insights. Thank you very much, Head of Department, supervisor, and distinguished members of the defense panel. I now welcome your questions, observations,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0" y="0"/>
            <a:ext cx="3047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698480" cy="320040"/>
          </a:xfrm>
          <a:prstGeom prst="rect">
            <a:avLst/>
          </a:prstGeom>
          <a:noFill/>
        </p:spPr>
        <p:txBody>
          <a:bodyPr wrap="none" lIns="0" tIns="0" rIns="0" bIns="0">
            <a:spAutoFit/>
          </a:bodyPr>
          <a:lstStyle/>
          <a:p>
            <a:pPr>
              <a:defRPr sz="900">
                <a:solidFill>
                  <a:srgbClr val="94A3B8"/>
                </a:solidFill>
                <a:latin typeface="Arial"/>
              </a:defRPr>
            </a:pPr>
            <a:r>
              <a:t>Olushola Emmanuel Savi (220903032) | Final Year Project Defense | Ekiti State University (EKSU)</a:t>
            </a:r>
          </a:p>
        </p:txBody>
      </p:sp>
      <p:pic>
        <p:nvPicPr>
          <p:cNvPr id="6" name="Picture 5" descr="image1.jpeg"/>
          <p:cNvPicPr>
            <a:picLocks noChangeAspect="1"/>
          </p:cNvPicPr>
          <p:nvPr/>
        </p:nvPicPr>
        <p:blipFill>
          <a:blip r:embed="rId2"/>
          <a:stretch>
            <a:fillRect/>
          </a:stretch>
        </p:blipFill>
        <p:spPr>
          <a:xfrm>
            <a:off x="5394960" y="548640"/>
            <a:ext cx="1371600" cy="1645920"/>
          </a:xfrm>
          <a:prstGeom prst="rect">
            <a:avLst/>
          </a:prstGeom>
        </p:spPr>
      </p:pic>
      <p:sp>
        <p:nvSpPr>
          <p:cNvPr id="7" name="TextBox 6"/>
          <p:cNvSpPr txBox="1"/>
          <p:nvPr/>
        </p:nvSpPr>
        <p:spPr>
          <a:xfrm>
            <a:off x="731520" y="2377440"/>
            <a:ext cx="10728655" cy="2743200"/>
          </a:xfrm>
          <a:prstGeom prst="rect">
            <a:avLst/>
          </a:prstGeom>
          <a:noFill/>
        </p:spPr>
        <p:txBody>
          <a:bodyPr wrap="square">
            <a:spAutoFit/>
          </a:bodyPr>
          <a:lstStyle/>
          <a:p>
            <a:pPr algn="ctr">
              <a:defRPr sz="1200" b="1">
                <a:solidFill>
                  <a:srgbClr val="38BDF8"/>
                </a:solidFill>
                <a:latin typeface="Arial"/>
              </a:defRPr>
            </a:pPr>
            <a:r>
              <a:t>EKITI STATE UNIVERSITY, ADO-EKITI</a:t>
            </a:r>
            <a:br/>
            <a:r>
              <a:t>FACULTY OF SCIENCE — DEPARTMENT OF COMPUTER SCIENCE</a:t>
            </a:r>
            <a:br/>
          </a:p>
          <a:p>
            <a:pPr algn="ctr">
              <a:defRPr sz="2000" b="1">
                <a:solidFill>
                  <a:srgbClr val="F8FAFC"/>
                </a:solidFill>
                <a:latin typeface="Arial"/>
              </a:defRPr>
            </a:pPr>
            <a:r>
              <a:t>DESIGN AND IMPLEMENTATION OF A SOCIAL MEDIA SENTIMENT ANALYSIS SYSTEM FOR ELECTION MONITORING AND CANDIDATE PERCEPTION TRACKING</a:t>
            </a:r>
          </a:p>
          <a:p>
            <a:pPr algn="ctr">
              <a:defRPr sz="1200" i="1">
                <a:solidFill>
                  <a:srgbClr val="10B981"/>
                </a:solidFill>
                <a:latin typeface="Arial"/>
              </a:defRPr>
            </a:pPr>
            <a:r>
              <a:t>(A Case Study of the 2027 Gubernatorial Elections in Nigeria)</a:t>
            </a:r>
            <a:br/>
          </a:p>
        </p:txBody>
      </p:sp>
      <p:sp>
        <p:nvSpPr>
          <p:cNvPr id="8" name="Rounded Rectangle 7"/>
          <p:cNvSpPr/>
          <p:nvPr/>
        </p:nvSpPr>
        <p:spPr>
          <a:xfrm>
            <a:off x="1645920" y="4754880"/>
            <a:ext cx="8899855" cy="128016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0" y="4846320"/>
            <a:ext cx="8534095" cy="1097280"/>
          </a:xfrm>
          <a:prstGeom prst="rect">
            <a:avLst/>
          </a:prstGeom>
          <a:noFill/>
        </p:spPr>
        <p:txBody>
          <a:bodyPr wrap="square">
            <a:spAutoFit/>
          </a:bodyPr>
          <a:lstStyle/>
          <a:p>
            <a:pPr>
              <a:defRPr sz="1300" b="1">
                <a:solidFill>
                  <a:srgbClr val="F8FAFC"/>
                </a:solidFill>
                <a:latin typeface="Arial"/>
              </a:defRPr>
            </a:pPr>
            <a:r>
              <a:t>Presented by: OLUSHOLA EMMANUEL SAVI  |  Matriculation No: 220903032</a:t>
            </a:r>
          </a:p>
          <a:p>
            <a:pPr>
              <a:defRPr sz="1100">
                <a:solidFill>
                  <a:srgbClr val="94A3B8"/>
                </a:solidFill>
                <a:latin typeface="Arial"/>
              </a:defRPr>
            </a:pPr>
            <a:r>
              <a:t>Degree: Bachelor of Science (B.Sc. Hons) in Computer Science</a:t>
            </a:r>
          </a:p>
          <a:p>
            <a:pPr>
              <a:defRPr sz="1100" b="1">
                <a:solidFill>
                  <a:srgbClr val="10B981"/>
                </a:solidFill>
                <a:latin typeface="Arial"/>
              </a:defRPr>
            </a:pPr>
            <a:r>
              <a:t>Supervised by: MR. OWOEYE  |  Head of Department: DR. MRS. YEROKUN  |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0" y="0"/>
            <a:ext cx="3047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
            <a:ext cx="10698480" cy="320040"/>
          </a:xfrm>
          <a:prstGeom prst="rect">
            <a:avLst/>
          </a:prstGeom>
          <a:noFill/>
        </p:spPr>
        <p:txBody>
          <a:bodyPr wrap="square" lIns="0" tIns="0" rIns="0" bIns="0">
            <a:spAutoFit/>
          </a:bodyPr>
          <a:lstStyle/>
          <a:p>
            <a:pPr>
              <a:defRPr sz="950" b="1">
                <a:solidFill>
                  <a:srgbClr val="10B981"/>
                </a:solidFill>
                <a:latin typeface="Arial"/>
              </a:defRPr>
            </a:pPr>
            <a:r>
              <a:t>1. INTRODUCTION</a:t>
            </a:r>
          </a:p>
        </p:txBody>
      </p:sp>
      <p:sp>
        <p:nvSpPr>
          <p:cNvPr id="6" name="TextBox 5"/>
          <p:cNvSpPr txBox="1"/>
          <p:nvPr/>
        </p:nvSpPr>
        <p:spPr>
          <a:xfrm>
            <a:off x="731520" y="685800"/>
            <a:ext cx="10698480" cy="640080"/>
          </a:xfrm>
          <a:prstGeom prst="rect">
            <a:avLst/>
          </a:prstGeom>
          <a:noFill/>
        </p:spPr>
        <p:txBody>
          <a:bodyPr wrap="square" lIns="0" tIns="0" rIns="0" bIns="0">
            <a:spAutoFit/>
          </a:bodyPr>
          <a:lstStyle/>
          <a:p>
            <a:pPr>
              <a:defRPr sz="2200" b="1">
                <a:solidFill>
                  <a:srgbClr val="F8FAFC"/>
                </a:solidFill>
                <a:latin typeface="Arial"/>
              </a:defRPr>
            </a:pPr>
            <a:r>
              <a:t>Project Background &amp; The Digital Electoral Space</a:t>
            </a:r>
          </a:p>
        </p:txBody>
      </p:sp>
      <p:sp>
        <p:nvSpPr>
          <p:cNvPr id="7" name="TextBox 6"/>
          <p:cNvSpPr txBox="1"/>
          <p:nvPr/>
        </p:nvSpPr>
        <p:spPr>
          <a:xfrm>
            <a:off x="731520" y="6400800"/>
            <a:ext cx="10698480" cy="320040"/>
          </a:xfrm>
          <a:prstGeom prst="rect">
            <a:avLst/>
          </a:prstGeom>
          <a:noFill/>
        </p:spPr>
        <p:txBody>
          <a:bodyPr wrap="none" lIns="0" tIns="0" rIns="0" bIns="0">
            <a:spAutoFit/>
          </a:bodyPr>
          <a:lstStyle/>
          <a:p>
            <a:pPr>
              <a:defRPr sz="900">
                <a:solidFill>
                  <a:srgbClr val="94A3B8"/>
                </a:solidFill>
                <a:latin typeface="Arial"/>
              </a:defRPr>
            </a:pPr>
            <a:r>
              <a:t>Olushola Emmanuel Savi (220903032) | Final Year Project Defense | Ekiti State University (EKSU)</a:t>
            </a:r>
          </a:p>
        </p:txBody>
      </p:sp>
      <p:sp>
        <p:nvSpPr>
          <p:cNvPr id="8" name="Rounded Rectangle 7"/>
          <p:cNvSpPr/>
          <p:nvPr/>
        </p:nvSpPr>
        <p:spPr>
          <a:xfrm>
            <a:off x="731520" y="1463040"/>
            <a:ext cx="5120640" cy="40233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754880" cy="3657600"/>
          </a:xfrm>
          <a:prstGeom prst="rect">
            <a:avLst/>
          </a:prstGeom>
          <a:noFill/>
        </p:spPr>
        <p:txBody>
          <a:bodyPr wrap="square">
            <a:spAutoFit/>
          </a:bodyPr>
          <a:lstStyle/>
          <a:p>
            <a:pPr>
              <a:defRPr sz="1400" b="1">
                <a:solidFill>
                  <a:srgbClr val="38BDF8"/>
                </a:solidFill>
                <a:latin typeface="Arial"/>
              </a:defRPr>
            </a:pPr>
            <a:r>
              <a:t>The Modern Electoral Sphere in Nigeria</a:t>
            </a:r>
          </a:p>
          <a:p>
            <a:pPr>
              <a:spcBef>
                <a:spcPts val="800"/>
              </a:spcBef>
            </a:pPr>
            <a:r>
              <a:rPr b="1" sz="1050">
                <a:solidFill>
                  <a:srgbClr val="F8FAFC"/>
                </a:solidFill>
              </a:rPr>
              <a:t>• Migration to Digital Arenas: </a:t>
            </a:r>
            <a:r>
              <a:rPr sz="1000">
                <a:solidFill>
                  <a:srgbClr val="94A3B8"/>
                </a:solidFill>
              </a:rPr>
              <a:t>Political discourse has decisively shifted from print and broadcast to interactive social ecosystems: X (Twitter), YouTube, Facebook, and news forums.</a:t>
            </a:r>
          </a:p>
          <a:p>
            <a:pPr>
              <a:spcBef>
                <a:spcPts val="800"/>
              </a:spcBef>
            </a:pPr>
            <a:r>
              <a:rPr b="1" sz="1050">
                <a:solidFill>
                  <a:srgbClr val="F8FAFC"/>
                </a:solidFill>
              </a:rPr>
              <a:t>• The 2027 Gubernatorial Horizon: </a:t>
            </a:r>
            <a:r>
              <a:rPr sz="1000">
                <a:solidFill>
                  <a:srgbClr val="94A3B8"/>
                </a:solidFill>
              </a:rPr>
              <a:t>High-stakes contests in key commercial and demographic states (Lagos, Kano, Rivers, Oyo, Nasarawa) generate massive digital civic commentary.</a:t>
            </a:r>
          </a:p>
          <a:p>
            <a:pPr>
              <a:spcBef>
                <a:spcPts val="800"/>
              </a:spcBef>
            </a:pPr>
            <a:r>
              <a:rPr b="1" sz="1050">
                <a:solidFill>
                  <a:srgbClr val="F8FAFC"/>
                </a:solidFill>
              </a:rPr>
              <a:t>• Real-Time Public Pulse: </a:t>
            </a:r>
            <a:r>
              <a:rPr sz="1000">
                <a:solidFill>
                  <a:srgbClr val="94A3B8"/>
                </a:solidFill>
              </a:rPr>
              <a:t>Citizen reactions to infrastructure, economic inflation, governance, and rallies provide an unfiltered barometer of electorate perception.</a:t>
            </a:r>
          </a:p>
          <a:p>
            <a:pPr>
              <a:spcBef>
                <a:spcPts val="800"/>
              </a:spcBef>
            </a:pPr>
            <a:r>
              <a:rPr b="1" sz="1050">
                <a:solidFill>
                  <a:srgbClr val="F8FAFC"/>
                </a:solidFill>
              </a:rPr>
              <a:t>• Youth Civic Mobilization: </a:t>
            </a:r>
            <a:r>
              <a:rPr sz="1000">
                <a:solidFill>
                  <a:srgbClr val="94A3B8"/>
                </a:solidFill>
              </a:rPr>
              <a:t>Demographic shifts in Nigeria have placed youth voter sentiment predominantly on digital social platforms.</a:t>
            </a:r>
          </a:p>
        </p:txBody>
      </p:sp>
      <p:sp>
        <p:nvSpPr>
          <p:cNvPr id="10" name="Rounded Rectangle 9"/>
          <p:cNvSpPr/>
          <p:nvPr/>
        </p:nvSpPr>
        <p:spPr>
          <a:xfrm>
            <a:off x="6217920" y="1463040"/>
            <a:ext cx="5212080" cy="40233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45920"/>
            <a:ext cx="4846320" cy="3657600"/>
          </a:xfrm>
          <a:prstGeom prst="rect">
            <a:avLst/>
          </a:prstGeom>
          <a:noFill/>
        </p:spPr>
        <p:txBody>
          <a:bodyPr wrap="square">
            <a:spAutoFit/>
          </a:bodyPr>
          <a:lstStyle/>
          <a:p>
            <a:pPr>
              <a:defRPr sz="1400" b="1">
                <a:solidFill>
                  <a:srgbClr val="10B981"/>
                </a:solidFill>
                <a:latin typeface="Arial"/>
              </a:defRPr>
            </a:pPr>
            <a:r>
              <a:t>The Computational Imperative (NLP)</a:t>
            </a:r>
          </a:p>
          <a:p>
            <a:pPr>
              <a:spcBef>
                <a:spcPts val="800"/>
              </a:spcBef>
            </a:pPr>
            <a:r>
              <a:rPr b="1" sz="1050">
                <a:solidFill>
                  <a:srgbClr val="F8FAFC"/>
                </a:solidFill>
              </a:rPr>
              <a:t>• Big Data Velocity: </a:t>
            </a:r>
            <a:r>
              <a:rPr sz="1000">
                <a:solidFill>
                  <a:srgbClr val="94A3B8"/>
                </a:solidFill>
              </a:rPr>
              <a:t>Tens of thousands of microblogs and political comments are posted daily, exceeding human reading capacity.</a:t>
            </a:r>
          </a:p>
          <a:p>
            <a:pPr>
              <a:spcBef>
                <a:spcPts val="800"/>
              </a:spcBef>
            </a:pPr>
            <a:r>
              <a:rPr b="1" sz="1050">
                <a:solidFill>
                  <a:srgbClr val="F8FAFC"/>
                </a:solidFill>
              </a:rPr>
              <a:t>• Subjective Polarity Extraction: </a:t>
            </a:r>
            <a:r>
              <a:rPr sz="1000">
                <a:solidFill>
                  <a:srgbClr val="94A3B8"/>
                </a:solidFill>
              </a:rPr>
              <a:t>Natural Language Processing (NLP) enables automated extraction of positive, negative, and neutral sentiments.</a:t>
            </a:r>
          </a:p>
          <a:p>
            <a:pPr>
              <a:spcBef>
                <a:spcPts val="800"/>
              </a:spcBef>
            </a:pPr>
            <a:r>
              <a:rPr b="1" sz="1050">
                <a:solidFill>
                  <a:srgbClr val="F8FAFC"/>
                </a:solidFill>
              </a:rPr>
              <a:t>• Dual-Engine Paradigm: </a:t>
            </a:r>
            <a:r>
              <a:rPr sz="1000">
                <a:solidFill>
                  <a:srgbClr val="94A3B8"/>
                </a:solidFill>
              </a:rPr>
              <a:t>Uniting fast rule-based sentiment lexicons (VADER) with deep contextual transformer neural networks (DistilBERT).</a:t>
            </a:r>
          </a:p>
          <a:p>
            <a:pPr>
              <a:spcBef>
                <a:spcPts val="800"/>
              </a:spcBef>
            </a:pPr>
            <a:r>
              <a:rPr b="1" sz="1050">
                <a:solidFill>
                  <a:srgbClr val="F8FAFC"/>
                </a:solidFill>
              </a:rPr>
              <a:t>• Evidence-Based Oversight: </a:t>
            </a:r>
            <a:r>
              <a:rPr sz="1000">
                <a:solidFill>
                  <a:srgbClr val="94A3B8"/>
                </a:solidFill>
              </a:rPr>
              <a:t>Empowering election observers, campaigns, journalists, and researchers with empirical data over subjective speculation.</a:t>
            </a:r>
          </a:p>
        </p:txBody>
      </p:sp>
      <p:sp>
        <p:nvSpPr>
          <p:cNvPr id="12" name="Rounded Rectangle 11"/>
          <p:cNvSpPr/>
          <p:nvPr/>
        </p:nvSpPr>
        <p:spPr>
          <a:xfrm>
            <a:off x="731520" y="5623560"/>
            <a:ext cx="2560320" cy="68580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669280"/>
            <a:ext cx="2377440" cy="594360"/>
          </a:xfrm>
          <a:prstGeom prst="rect">
            <a:avLst/>
          </a:prstGeom>
          <a:noFill/>
        </p:spPr>
        <p:txBody>
          <a:bodyPr wrap="square">
            <a:spAutoFit/>
          </a:bodyPr>
          <a:lstStyle/>
          <a:p>
            <a:pPr>
              <a:defRPr b="1" sz="1100">
                <a:solidFill>
                  <a:srgbClr val="38BDF8"/>
                </a:solidFill>
              </a:defRPr>
            </a:pPr>
            <a:r>
              <a:t>4 Platforms</a:t>
            </a:r>
          </a:p>
          <a:p>
            <a:pPr>
              <a:defRPr sz="850">
                <a:solidFill>
                  <a:srgbClr val="94A3B8"/>
                </a:solidFill>
              </a:defRPr>
            </a:pPr>
            <a:r>
              <a:t>X, YouTube, FB, News Feeds</a:t>
            </a:r>
          </a:p>
        </p:txBody>
      </p:sp>
      <p:sp>
        <p:nvSpPr>
          <p:cNvPr id="14" name="Rounded Rectangle 13"/>
          <p:cNvSpPr/>
          <p:nvPr/>
        </p:nvSpPr>
        <p:spPr>
          <a:xfrm>
            <a:off x="3429000" y="5623560"/>
            <a:ext cx="2560320" cy="68580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5669280"/>
            <a:ext cx="2377440" cy="594360"/>
          </a:xfrm>
          <a:prstGeom prst="rect">
            <a:avLst/>
          </a:prstGeom>
          <a:noFill/>
        </p:spPr>
        <p:txBody>
          <a:bodyPr wrap="square">
            <a:spAutoFit/>
          </a:bodyPr>
          <a:lstStyle/>
          <a:p>
            <a:pPr>
              <a:defRPr b="1" sz="1100">
                <a:solidFill>
                  <a:srgbClr val="10B981"/>
                </a:solidFill>
              </a:defRPr>
            </a:pPr>
            <a:r>
              <a:t>Dual-Engine NLP</a:t>
            </a:r>
          </a:p>
          <a:p>
            <a:pPr>
              <a:defRPr sz="850">
                <a:solidFill>
                  <a:srgbClr val="94A3B8"/>
                </a:solidFill>
              </a:defRPr>
            </a:pPr>
            <a:r>
              <a:t>VADER + DistilBERT Transformer</a:t>
            </a:r>
          </a:p>
        </p:txBody>
      </p:sp>
      <p:sp>
        <p:nvSpPr>
          <p:cNvPr id="16" name="Rounded Rectangle 15"/>
          <p:cNvSpPr/>
          <p:nvPr/>
        </p:nvSpPr>
        <p:spPr>
          <a:xfrm>
            <a:off x="6126480" y="5623560"/>
            <a:ext cx="2560320" cy="68580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0" y="5669280"/>
            <a:ext cx="2377440" cy="594360"/>
          </a:xfrm>
          <a:prstGeom prst="rect">
            <a:avLst/>
          </a:prstGeom>
          <a:noFill/>
        </p:spPr>
        <p:txBody>
          <a:bodyPr wrap="square">
            <a:spAutoFit/>
          </a:bodyPr>
          <a:lstStyle/>
          <a:p>
            <a:pPr>
              <a:defRPr b="1" sz="1100">
                <a:solidFill>
                  <a:srgbClr val="F59E0B"/>
                </a:solidFill>
              </a:defRPr>
            </a:pPr>
            <a:r>
              <a:t>8 State Races</a:t>
            </a:r>
          </a:p>
          <a:p>
            <a:pPr>
              <a:defRPr sz="850">
                <a:solidFill>
                  <a:srgbClr val="94A3B8"/>
                </a:solidFill>
              </a:defRPr>
            </a:pPr>
            <a:r>
              <a:t>Lagos, Kano, Rivers, Oyo...</a:t>
            </a:r>
          </a:p>
        </p:txBody>
      </p:sp>
      <p:sp>
        <p:nvSpPr>
          <p:cNvPr id="18" name="Rounded Rectangle 17"/>
          <p:cNvSpPr/>
          <p:nvPr/>
        </p:nvSpPr>
        <p:spPr>
          <a:xfrm>
            <a:off x="8823960" y="5623560"/>
            <a:ext cx="2560320" cy="685800"/>
          </a:xfrm>
          <a:prstGeom prst="roundRect">
            <a:avLst/>
          </a:prstGeom>
          <a:solidFill>
            <a:srgbClr val="1E293B"/>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15400" y="5669280"/>
            <a:ext cx="2377440" cy="594360"/>
          </a:xfrm>
          <a:prstGeom prst="rect">
            <a:avLst/>
          </a:prstGeom>
          <a:noFill/>
        </p:spPr>
        <p:txBody>
          <a:bodyPr wrap="square">
            <a:spAutoFit/>
          </a:bodyPr>
          <a:lstStyle/>
          <a:p>
            <a:pPr>
              <a:defRPr b="1" sz="1100">
                <a:solidFill>
                  <a:srgbClr val="F43F5E"/>
                </a:solidFill>
              </a:defRPr>
            </a:pPr>
            <a:r>
              <a:t>Real-Time Analytics</a:t>
            </a:r>
          </a:p>
          <a:p>
            <a:pPr>
              <a:defRPr sz="850">
                <a:solidFill>
                  <a:srgbClr val="94A3B8"/>
                </a:solidFill>
              </a:defRPr>
            </a:pPr>
            <a:r>
              <a:t>Time-Series &amp; Dynamic WordClouds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0" y="0"/>
            <a:ext cx="3047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
            <a:ext cx="10698480" cy="320040"/>
          </a:xfrm>
          <a:prstGeom prst="rect">
            <a:avLst/>
          </a:prstGeom>
          <a:noFill/>
        </p:spPr>
        <p:txBody>
          <a:bodyPr wrap="square" lIns="0" tIns="0" rIns="0" bIns="0">
            <a:spAutoFit/>
          </a:bodyPr>
          <a:lstStyle/>
          <a:p>
            <a:pPr>
              <a:defRPr sz="950" b="1">
                <a:solidFill>
                  <a:srgbClr val="10B981"/>
                </a:solidFill>
                <a:latin typeface="Arial"/>
              </a:defRPr>
            </a:pPr>
            <a:r>
              <a:t>2. PROBLEM STATEMENT</a:t>
            </a:r>
          </a:p>
        </p:txBody>
      </p:sp>
      <p:sp>
        <p:nvSpPr>
          <p:cNvPr id="6" name="TextBox 5"/>
          <p:cNvSpPr txBox="1"/>
          <p:nvPr/>
        </p:nvSpPr>
        <p:spPr>
          <a:xfrm>
            <a:off x="731520" y="685800"/>
            <a:ext cx="10698480" cy="640080"/>
          </a:xfrm>
          <a:prstGeom prst="rect">
            <a:avLst/>
          </a:prstGeom>
          <a:noFill/>
        </p:spPr>
        <p:txBody>
          <a:bodyPr wrap="square" lIns="0" tIns="0" rIns="0" bIns="0">
            <a:spAutoFit/>
          </a:bodyPr>
          <a:lstStyle/>
          <a:p>
            <a:pPr>
              <a:defRPr sz="2200" b="1">
                <a:solidFill>
                  <a:srgbClr val="F8FAFC"/>
                </a:solidFill>
                <a:latin typeface="Arial"/>
              </a:defRPr>
            </a:pPr>
            <a:r>
              <a:t>Problem Statement: Why Existing Methods Fail</a:t>
            </a:r>
          </a:p>
        </p:txBody>
      </p:sp>
      <p:sp>
        <p:nvSpPr>
          <p:cNvPr id="7" name="TextBox 6"/>
          <p:cNvSpPr txBox="1"/>
          <p:nvPr/>
        </p:nvSpPr>
        <p:spPr>
          <a:xfrm>
            <a:off x="731520" y="6400800"/>
            <a:ext cx="10698480" cy="320040"/>
          </a:xfrm>
          <a:prstGeom prst="rect">
            <a:avLst/>
          </a:prstGeom>
          <a:noFill/>
        </p:spPr>
        <p:txBody>
          <a:bodyPr wrap="none" lIns="0" tIns="0" rIns="0" bIns="0">
            <a:spAutoFit/>
          </a:bodyPr>
          <a:lstStyle/>
          <a:p>
            <a:pPr>
              <a:defRPr sz="900">
                <a:solidFill>
                  <a:srgbClr val="94A3B8"/>
                </a:solidFill>
                <a:latin typeface="Arial"/>
              </a:defRPr>
            </a:pPr>
            <a:r>
              <a:t>Olushola Emmanuel Savi (220903032) | Final Year Project Defense | Ekiti State University (EKSU)</a:t>
            </a:r>
          </a:p>
        </p:txBody>
      </p:sp>
      <p:sp>
        <p:nvSpPr>
          <p:cNvPr id="8" name="Rounded Rectangle 7"/>
          <p:cNvSpPr/>
          <p:nvPr/>
        </p:nvSpPr>
        <p:spPr>
          <a:xfrm>
            <a:off x="731520" y="1463040"/>
            <a:ext cx="5257800" cy="1417320"/>
          </a:xfrm>
          <a:prstGeom prst="roundRect">
            <a:avLst/>
          </a:prstGeom>
          <a:solidFill>
            <a:srgbClr val="1E293B"/>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92040" cy="1143000"/>
          </a:xfrm>
          <a:prstGeom prst="rect">
            <a:avLst/>
          </a:prstGeom>
          <a:noFill/>
        </p:spPr>
        <p:txBody>
          <a:bodyPr wrap="square">
            <a:spAutoFit/>
          </a:bodyPr>
          <a:lstStyle/>
          <a:p>
            <a:pPr>
              <a:defRPr b="1" sz="1200">
                <a:solidFill>
                  <a:srgbClr val="F43F5E"/>
                </a:solidFill>
              </a:defRPr>
            </a:pPr>
            <a:r>
              <a:t>1. High Cost &amp; Delay of Traditional Polling</a:t>
            </a:r>
          </a:p>
          <a:p>
            <a:pPr>
              <a:spcBef>
                <a:spcPts val="400"/>
              </a:spcBef>
              <a:defRPr sz="950">
                <a:solidFill>
                  <a:srgbClr val="94A3B8"/>
                </a:solidFill>
              </a:defRPr>
            </a:pPr>
            <a:r>
              <a:t>Physical questionnaires and telephone surveys cost millions of Naira, suffer from weeks of tabulation lag, and are obsolete in fast-moving campaigns.</a:t>
            </a:r>
          </a:p>
        </p:txBody>
      </p:sp>
      <p:sp>
        <p:nvSpPr>
          <p:cNvPr id="10" name="Rounded Rectangle 9"/>
          <p:cNvSpPr/>
          <p:nvPr/>
        </p:nvSpPr>
        <p:spPr>
          <a:xfrm>
            <a:off x="6172200" y="1463040"/>
            <a:ext cx="5257800" cy="141732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00200"/>
            <a:ext cx="4892040" cy="1143000"/>
          </a:xfrm>
          <a:prstGeom prst="rect">
            <a:avLst/>
          </a:prstGeom>
          <a:noFill/>
        </p:spPr>
        <p:txBody>
          <a:bodyPr wrap="square">
            <a:spAutoFit/>
          </a:bodyPr>
          <a:lstStyle/>
          <a:p>
            <a:pPr>
              <a:defRPr b="1" sz="1200">
                <a:solidFill>
                  <a:srgbClr val="F59E0B"/>
                </a:solidFill>
              </a:defRPr>
            </a:pPr>
            <a:r>
              <a:t>2. Demographic Sampling &amp; Social Desirability Bias</a:t>
            </a:r>
          </a:p>
          <a:p>
            <a:pPr>
              <a:spcBef>
                <a:spcPts val="400"/>
              </a:spcBef>
              <a:defRPr sz="950">
                <a:solidFill>
                  <a:srgbClr val="94A3B8"/>
                </a:solidFill>
              </a:defRPr>
            </a:pPr>
            <a:r>
              <a:t>Manual field surveys disproportionately miss online youth demographics. Furthermore, voters often conceal true partisan preferences from human interviewers.</a:t>
            </a:r>
          </a:p>
        </p:txBody>
      </p:sp>
      <p:sp>
        <p:nvSpPr>
          <p:cNvPr id="12" name="Rounded Rectangle 11"/>
          <p:cNvSpPr/>
          <p:nvPr/>
        </p:nvSpPr>
        <p:spPr>
          <a:xfrm>
            <a:off x="731520" y="3017520"/>
            <a:ext cx="5257800" cy="14173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54679"/>
            <a:ext cx="4892040" cy="1143000"/>
          </a:xfrm>
          <a:prstGeom prst="rect">
            <a:avLst/>
          </a:prstGeom>
          <a:noFill/>
        </p:spPr>
        <p:txBody>
          <a:bodyPr wrap="square">
            <a:spAutoFit/>
          </a:bodyPr>
          <a:lstStyle/>
          <a:p>
            <a:pPr>
              <a:defRPr b="1" sz="1200">
                <a:solidFill>
                  <a:srgbClr val="38BDF8"/>
                </a:solidFill>
              </a:defRPr>
            </a:pPr>
            <a:r>
              <a:t>3. Cognitive Overload &amp; Anecdotal Manual Tracking</a:t>
            </a:r>
          </a:p>
          <a:p>
            <a:pPr>
              <a:spcBef>
                <a:spcPts val="400"/>
              </a:spcBef>
              <a:defRPr sz="950">
                <a:solidFill>
                  <a:srgbClr val="94A3B8"/>
                </a:solidFill>
              </a:defRPr>
            </a:pPr>
            <a:r>
              <a:t>Campaign monitors who manually scroll social media experience severe fatigue, confirmation bias, and miss critical emerging backlashes.</a:t>
            </a:r>
          </a:p>
        </p:txBody>
      </p:sp>
      <p:sp>
        <p:nvSpPr>
          <p:cNvPr id="14" name="Rounded Rectangle 13"/>
          <p:cNvSpPr/>
          <p:nvPr/>
        </p:nvSpPr>
        <p:spPr>
          <a:xfrm>
            <a:off x="6172200" y="3017520"/>
            <a:ext cx="5257800" cy="141732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3154679"/>
            <a:ext cx="4892040" cy="1143000"/>
          </a:xfrm>
          <a:prstGeom prst="rect">
            <a:avLst/>
          </a:prstGeom>
          <a:noFill/>
        </p:spPr>
        <p:txBody>
          <a:bodyPr wrap="square">
            <a:spAutoFit/>
          </a:bodyPr>
          <a:lstStyle/>
          <a:p>
            <a:pPr>
              <a:defRPr b="1" sz="1200">
                <a:solidFill>
                  <a:srgbClr val="10B981"/>
                </a:solidFill>
              </a:defRPr>
            </a:pPr>
            <a:r>
              <a:t>4. Slang, Emojis, and Linguistic Nuance</a:t>
            </a:r>
          </a:p>
          <a:p>
            <a:pPr>
              <a:spcBef>
                <a:spcPts val="400"/>
              </a:spcBef>
              <a:defRPr sz="950">
                <a:solidFill>
                  <a:srgbClr val="94A3B8"/>
                </a:solidFill>
              </a:defRPr>
            </a:pPr>
            <a:r>
              <a:t>Nigerian political text contains colloquialisms ('godfatherism', 'structures'), emojis, all-caps, and sarcasm that off-the-shelf tools misclassify.</a:t>
            </a:r>
          </a:p>
        </p:txBody>
      </p:sp>
      <p:sp>
        <p:nvSpPr>
          <p:cNvPr id="16" name="Rounded Rectangle 15"/>
          <p:cNvSpPr/>
          <p:nvPr/>
        </p:nvSpPr>
        <p:spPr>
          <a:xfrm>
            <a:off x="731520" y="4572000"/>
            <a:ext cx="5257800" cy="1417320"/>
          </a:xfrm>
          <a:prstGeom prst="roundRect">
            <a:avLst/>
          </a:prstGeom>
          <a:solidFill>
            <a:srgbClr val="1E293B"/>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709160"/>
            <a:ext cx="4892040" cy="1143000"/>
          </a:xfrm>
          <a:prstGeom prst="rect">
            <a:avLst/>
          </a:prstGeom>
          <a:noFill/>
        </p:spPr>
        <p:txBody>
          <a:bodyPr wrap="square">
            <a:spAutoFit/>
          </a:bodyPr>
          <a:lstStyle/>
          <a:p>
            <a:pPr>
              <a:defRPr b="1" sz="1200">
                <a:solidFill>
                  <a:srgbClr val="F43F5E"/>
                </a:solidFill>
              </a:defRPr>
            </a:pPr>
            <a:r>
              <a:t>5. Prohibitive Commercial Tool Costs ($15k - $40k/yr)</a:t>
            </a:r>
          </a:p>
          <a:p>
            <a:pPr>
              <a:spcBef>
                <a:spcPts val="400"/>
              </a:spcBef>
              <a:defRPr sz="950">
                <a:solidFill>
                  <a:srgbClr val="94A3B8"/>
                </a:solidFill>
              </a:defRPr>
            </a:pPr>
            <a:r>
              <a:t>Enterprise suites (Brandwatch, Meltwater) are unaffordable for universities and local observers, and lack local candidate entity recognition.</a:t>
            </a:r>
          </a:p>
        </p:txBody>
      </p:sp>
      <p:sp>
        <p:nvSpPr>
          <p:cNvPr id="18" name="Rounded Rectangle 17"/>
          <p:cNvSpPr/>
          <p:nvPr/>
        </p:nvSpPr>
        <p:spPr>
          <a:xfrm>
            <a:off x="6172200" y="4572000"/>
            <a:ext cx="5257800" cy="14173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709160"/>
            <a:ext cx="4892040" cy="1143000"/>
          </a:xfrm>
          <a:prstGeom prst="rect">
            <a:avLst/>
          </a:prstGeom>
          <a:noFill/>
        </p:spPr>
        <p:txBody>
          <a:bodyPr wrap="square">
            <a:spAutoFit/>
          </a:bodyPr>
          <a:lstStyle/>
          <a:p>
            <a:pPr>
              <a:defRPr b="1" sz="1200">
                <a:solidFill>
                  <a:srgbClr val="38BDF8"/>
                </a:solidFill>
              </a:defRPr>
            </a:pPr>
            <a:r>
              <a:t>6. Fragile Single-Engine Architectures</a:t>
            </a:r>
          </a:p>
          <a:p>
            <a:pPr>
              <a:spcBef>
                <a:spcPts val="400"/>
              </a:spcBef>
              <a:defRPr sz="950">
                <a:solidFill>
                  <a:srgbClr val="94A3B8"/>
                </a:solidFill>
              </a:defRPr>
            </a:pPr>
            <a:r>
              <a:t>Existing academic prototypes rely either on a single lexicon (failing on context) or a heavy transformer (crashing on memory limits without fallback).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0" y="0"/>
            <a:ext cx="3047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
            <a:ext cx="10698480" cy="320040"/>
          </a:xfrm>
          <a:prstGeom prst="rect">
            <a:avLst/>
          </a:prstGeom>
          <a:noFill/>
        </p:spPr>
        <p:txBody>
          <a:bodyPr wrap="square" lIns="0" tIns="0" rIns="0" bIns="0">
            <a:spAutoFit/>
          </a:bodyPr>
          <a:lstStyle/>
          <a:p>
            <a:pPr>
              <a:defRPr sz="950" b="1">
                <a:solidFill>
                  <a:srgbClr val="10B981"/>
                </a:solidFill>
                <a:latin typeface="Arial"/>
              </a:defRPr>
            </a:pPr>
            <a:r>
              <a:t>3. RESEARCH GOALS</a:t>
            </a:r>
          </a:p>
        </p:txBody>
      </p:sp>
      <p:sp>
        <p:nvSpPr>
          <p:cNvPr id="6" name="TextBox 5"/>
          <p:cNvSpPr txBox="1"/>
          <p:nvPr/>
        </p:nvSpPr>
        <p:spPr>
          <a:xfrm>
            <a:off x="731520" y="685800"/>
            <a:ext cx="10698480" cy="640080"/>
          </a:xfrm>
          <a:prstGeom prst="rect">
            <a:avLst/>
          </a:prstGeom>
          <a:noFill/>
        </p:spPr>
        <p:txBody>
          <a:bodyPr wrap="square" lIns="0" tIns="0" rIns="0" bIns="0">
            <a:spAutoFit/>
          </a:bodyPr>
          <a:lstStyle/>
          <a:p>
            <a:pPr>
              <a:defRPr sz="2200" b="1">
                <a:solidFill>
                  <a:srgbClr val="F8FAFC"/>
                </a:solidFill>
                <a:latin typeface="Arial"/>
              </a:defRPr>
            </a:pPr>
            <a:r>
              <a:t>Research Aim &amp; Specific Objectives</a:t>
            </a:r>
          </a:p>
        </p:txBody>
      </p:sp>
      <p:sp>
        <p:nvSpPr>
          <p:cNvPr id="7" name="TextBox 6"/>
          <p:cNvSpPr txBox="1"/>
          <p:nvPr/>
        </p:nvSpPr>
        <p:spPr>
          <a:xfrm>
            <a:off x="731520" y="6400800"/>
            <a:ext cx="10698480" cy="320040"/>
          </a:xfrm>
          <a:prstGeom prst="rect">
            <a:avLst/>
          </a:prstGeom>
          <a:noFill/>
        </p:spPr>
        <p:txBody>
          <a:bodyPr wrap="none" lIns="0" tIns="0" rIns="0" bIns="0">
            <a:spAutoFit/>
          </a:bodyPr>
          <a:lstStyle/>
          <a:p>
            <a:pPr>
              <a:defRPr sz="900">
                <a:solidFill>
                  <a:srgbClr val="94A3B8"/>
                </a:solidFill>
                <a:latin typeface="Arial"/>
              </a:defRPr>
            </a:pPr>
            <a:r>
              <a:t>Olushola Emmanuel Savi (220903032) | Final Year Project Defense | Ekiti State University (EKSU)</a:t>
            </a:r>
          </a:p>
        </p:txBody>
      </p:sp>
      <p:sp>
        <p:nvSpPr>
          <p:cNvPr id="8" name="Rounded Rectangle 7"/>
          <p:cNvSpPr/>
          <p:nvPr/>
        </p:nvSpPr>
        <p:spPr>
          <a:xfrm>
            <a:off x="731520" y="1371600"/>
            <a:ext cx="10728655" cy="91440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17320"/>
            <a:ext cx="10362895" cy="822960"/>
          </a:xfrm>
          <a:prstGeom prst="rect">
            <a:avLst/>
          </a:prstGeom>
          <a:noFill/>
        </p:spPr>
        <p:txBody>
          <a:bodyPr wrap="square">
            <a:spAutoFit/>
          </a:bodyPr>
          <a:lstStyle/>
          <a:p>
            <a:pPr>
              <a:defRPr b="1" sz="1050">
                <a:solidFill>
                  <a:srgbClr val="10B981"/>
                </a:solidFill>
              </a:defRPr>
            </a:pPr>
            <a:r>
              <a:t>PRIMARY RESEARCH AIM:</a:t>
            </a:r>
          </a:p>
          <a:p>
            <a:pPr>
              <a:defRPr sz="1100" b="1">
                <a:solidFill>
                  <a:srgbClr val="F8FAFC"/>
                </a:solidFill>
              </a:defRPr>
            </a:pPr>
            <a:r>
              <a:t>To design and implement an end-to-end, web-based Social Media Sentiment Analysis and Election Monitoring Platform for the 2027 Gubernatorial Elections in Nigeria, utilizing dual-engine NLP and candidate entity matching to quantify public perception in real time.</a:t>
            </a:r>
          </a:p>
        </p:txBody>
      </p:sp>
      <p:sp>
        <p:nvSpPr>
          <p:cNvPr id="10" name="Rounded Rectangle 9"/>
          <p:cNvSpPr/>
          <p:nvPr/>
        </p:nvSpPr>
        <p:spPr>
          <a:xfrm>
            <a:off x="731520" y="2468880"/>
            <a:ext cx="5257800" cy="1143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560320"/>
            <a:ext cx="4983480" cy="960120"/>
          </a:xfrm>
          <a:prstGeom prst="rect">
            <a:avLst/>
          </a:prstGeom>
          <a:noFill/>
        </p:spPr>
        <p:txBody>
          <a:bodyPr wrap="square">
            <a:spAutoFit/>
          </a:bodyPr>
          <a:lstStyle/>
          <a:p>
            <a:pPr>
              <a:defRPr b="1" sz="1050">
                <a:solidFill>
                  <a:srgbClr val="38BDF8"/>
                </a:solidFill>
              </a:defRPr>
            </a:pPr>
            <a:r>
              <a:t>Objective 1: Multi-Source Data Collection Pipeline</a:t>
            </a:r>
          </a:p>
          <a:p>
            <a:pPr>
              <a:spcBef>
                <a:spcPts val="300"/>
              </a:spcBef>
              <a:defRPr sz="880">
                <a:solidFill>
                  <a:srgbClr val="94A3B8"/>
                </a:solidFill>
              </a:defRPr>
            </a:pPr>
            <a:r>
              <a:t>Ingest election discourse across X (Twitter), YouTube, Facebook, and Nigerian news RSS feeds (Punch, Vanguard, Daily Post) with automated simulators.</a:t>
            </a:r>
          </a:p>
        </p:txBody>
      </p:sp>
      <p:sp>
        <p:nvSpPr>
          <p:cNvPr id="12" name="Rounded Rectangle 11"/>
          <p:cNvSpPr/>
          <p:nvPr/>
        </p:nvSpPr>
        <p:spPr>
          <a:xfrm>
            <a:off x="6172200" y="2468880"/>
            <a:ext cx="5257800" cy="1143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2560320"/>
            <a:ext cx="4983480" cy="960120"/>
          </a:xfrm>
          <a:prstGeom prst="rect">
            <a:avLst/>
          </a:prstGeom>
          <a:noFill/>
        </p:spPr>
        <p:txBody>
          <a:bodyPr wrap="square">
            <a:spAutoFit/>
          </a:bodyPr>
          <a:lstStyle/>
          <a:p>
            <a:pPr>
              <a:defRPr b="1" sz="1050">
                <a:solidFill>
                  <a:srgbClr val="10B981"/>
                </a:solidFill>
              </a:defRPr>
            </a:pPr>
            <a:r>
              <a:t>Objective 2: Candidate Named Entity Recognition (NER)</a:t>
            </a:r>
          </a:p>
          <a:p>
            <a:pPr>
              <a:spcBef>
                <a:spcPts val="300"/>
              </a:spcBef>
              <a:defRPr sz="880">
                <a:solidFill>
                  <a:srgbClr val="94A3B8"/>
                </a:solidFill>
              </a:defRPr>
            </a:pPr>
            <a:r>
              <a:t>Formulate an intelligent entity matching engine that maps colloquial aliases and candidate keywords to formal database records and state races.</a:t>
            </a:r>
          </a:p>
        </p:txBody>
      </p:sp>
      <p:sp>
        <p:nvSpPr>
          <p:cNvPr id="14" name="Rounded Rectangle 13"/>
          <p:cNvSpPr/>
          <p:nvPr/>
        </p:nvSpPr>
        <p:spPr>
          <a:xfrm>
            <a:off x="731520" y="3703320"/>
            <a:ext cx="5257800" cy="1143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794760"/>
            <a:ext cx="4983480" cy="960120"/>
          </a:xfrm>
          <a:prstGeom prst="rect">
            <a:avLst/>
          </a:prstGeom>
          <a:noFill/>
        </p:spPr>
        <p:txBody>
          <a:bodyPr wrap="square">
            <a:spAutoFit/>
          </a:bodyPr>
          <a:lstStyle/>
          <a:p>
            <a:pPr>
              <a:defRPr b="1" sz="1050">
                <a:solidFill>
                  <a:srgbClr val="F59E0B"/>
                </a:solidFill>
              </a:defRPr>
            </a:pPr>
            <a:r>
              <a:t>Objective 3: Dual-Engine NLP Classification Framework</a:t>
            </a:r>
          </a:p>
          <a:p>
            <a:pPr>
              <a:spcBef>
                <a:spcPts val="300"/>
              </a:spcBef>
              <a:defRPr sz="880">
                <a:solidFill>
                  <a:srgbClr val="94A3B8"/>
                </a:solidFill>
              </a:defRPr>
            </a:pPr>
            <a:r>
              <a:t>Unite rule-based NLTK VADER (tuned for slang and emojis) with fine-tuned Hugging Face DistilBERT transformers, featuring automated failover.</a:t>
            </a:r>
          </a:p>
        </p:txBody>
      </p:sp>
      <p:sp>
        <p:nvSpPr>
          <p:cNvPr id="16" name="Rounded Rectangle 15"/>
          <p:cNvSpPr/>
          <p:nvPr/>
        </p:nvSpPr>
        <p:spPr>
          <a:xfrm>
            <a:off x="6172200" y="3703320"/>
            <a:ext cx="5257800" cy="1143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3794760"/>
            <a:ext cx="4983480" cy="960120"/>
          </a:xfrm>
          <a:prstGeom prst="rect">
            <a:avLst/>
          </a:prstGeom>
          <a:noFill/>
        </p:spPr>
        <p:txBody>
          <a:bodyPr wrap="square">
            <a:spAutoFit/>
          </a:bodyPr>
          <a:lstStyle/>
          <a:p>
            <a:pPr>
              <a:defRPr b="1" sz="1050">
                <a:solidFill>
                  <a:srgbClr val="38BDF8"/>
                </a:solidFill>
              </a:defRPr>
            </a:pPr>
            <a:r>
              <a:t>Objective 4: Real-Time Interactive Visual Analytics</a:t>
            </a:r>
          </a:p>
          <a:p>
            <a:pPr>
              <a:spcBef>
                <a:spcPts val="300"/>
              </a:spcBef>
              <a:defRPr sz="880">
                <a:solidFill>
                  <a:srgbClr val="94A3B8"/>
                </a:solidFill>
              </a:defRPr>
            </a:pPr>
            <a:r>
              <a:t>Develop an interactive dark glassmorphism dashboard featuring Chart.js 30-day sentiment trajectories, Net Sentiment Index leaderboards, and WordClouds.</a:t>
            </a:r>
          </a:p>
        </p:txBody>
      </p:sp>
      <p:sp>
        <p:nvSpPr>
          <p:cNvPr id="18" name="Rounded Rectangle 17"/>
          <p:cNvSpPr/>
          <p:nvPr/>
        </p:nvSpPr>
        <p:spPr>
          <a:xfrm>
            <a:off x="731520" y="4937760"/>
            <a:ext cx="5257800" cy="1143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029200"/>
            <a:ext cx="4983480" cy="960120"/>
          </a:xfrm>
          <a:prstGeom prst="rect">
            <a:avLst/>
          </a:prstGeom>
          <a:noFill/>
        </p:spPr>
        <p:txBody>
          <a:bodyPr wrap="square">
            <a:spAutoFit/>
          </a:bodyPr>
          <a:lstStyle/>
          <a:p>
            <a:pPr>
              <a:defRPr b="1" sz="1050">
                <a:solidFill>
                  <a:srgbClr val="F43F5E"/>
                </a:solidFill>
              </a:defRPr>
            </a:pPr>
            <a:r>
              <a:t>Objective 5: Live NLP Sandbox &amp; Dataset Export Engine</a:t>
            </a:r>
          </a:p>
          <a:p>
            <a:pPr>
              <a:spcBef>
                <a:spcPts val="300"/>
              </a:spcBef>
              <a:defRPr sz="880">
                <a:solidFill>
                  <a:srgbClr val="94A3B8"/>
                </a:solidFill>
              </a:defRPr>
            </a:pPr>
            <a:r>
              <a:t>Engineer a real-time testing sandbox for custom quotes and an RFC 4180 compliant CSV export engine for external academic researchers.</a:t>
            </a:r>
          </a:p>
        </p:txBody>
      </p:sp>
      <p:sp>
        <p:nvSpPr>
          <p:cNvPr id="20" name="Rounded Rectangle 19"/>
          <p:cNvSpPr/>
          <p:nvPr/>
        </p:nvSpPr>
        <p:spPr>
          <a:xfrm>
            <a:off x="6172200" y="4937760"/>
            <a:ext cx="5257800" cy="1143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5029200"/>
            <a:ext cx="4983480" cy="960120"/>
          </a:xfrm>
          <a:prstGeom prst="rect">
            <a:avLst/>
          </a:prstGeom>
          <a:noFill/>
        </p:spPr>
        <p:txBody>
          <a:bodyPr wrap="square">
            <a:spAutoFit/>
          </a:bodyPr>
          <a:lstStyle/>
          <a:p>
            <a:pPr>
              <a:defRPr b="1" sz="1050">
                <a:solidFill>
                  <a:srgbClr val="10B981"/>
                </a:solidFill>
              </a:defRPr>
            </a:pPr>
            <a:r>
              <a:t>Objective 6: Empirical System Benchmarking &amp; Validation</a:t>
            </a:r>
          </a:p>
          <a:p>
            <a:pPr>
              <a:spcBef>
                <a:spcPts val="300"/>
              </a:spcBef>
              <a:defRPr sz="880">
                <a:solidFill>
                  <a:srgbClr val="94A3B8"/>
                </a:solidFill>
              </a:defRPr>
            </a:pPr>
            <a:r>
              <a:t>Rigorously validate system reliability via 21 automated unit/integration tests, confusion matrices, precision/recall benchmarks, and usability studies.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0" y="0"/>
            <a:ext cx="3047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
            <a:ext cx="10698480" cy="320040"/>
          </a:xfrm>
          <a:prstGeom prst="rect">
            <a:avLst/>
          </a:prstGeom>
          <a:noFill/>
        </p:spPr>
        <p:txBody>
          <a:bodyPr wrap="square" lIns="0" tIns="0" rIns="0" bIns="0">
            <a:spAutoFit/>
          </a:bodyPr>
          <a:lstStyle/>
          <a:p>
            <a:pPr>
              <a:defRPr sz="950" b="1">
                <a:solidFill>
                  <a:srgbClr val="10B981"/>
                </a:solidFill>
                <a:latin typeface="Arial"/>
              </a:defRPr>
            </a:pPr>
            <a:r>
              <a:t>4. NLP METHODOLOGY</a:t>
            </a:r>
          </a:p>
        </p:txBody>
      </p:sp>
      <p:sp>
        <p:nvSpPr>
          <p:cNvPr id="6" name="TextBox 5"/>
          <p:cNvSpPr txBox="1"/>
          <p:nvPr/>
        </p:nvSpPr>
        <p:spPr>
          <a:xfrm>
            <a:off x="731520" y="685800"/>
            <a:ext cx="10698480" cy="640080"/>
          </a:xfrm>
          <a:prstGeom prst="rect">
            <a:avLst/>
          </a:prstGeom>
          <a:noFill/>
        </p:spPr>
        <p:txBody>
          <a:bodyPr wrap="square" lIns="0" tIns="0" rIns="0" bIns="0">
            <a:spAutoFit/>
          </a:bodyPr>
          <a:lstStyle/>
          <a:p>
            <a:pPr>
              <a:defRPr sz="2200" b="1">
                <a:solidFill>
                  <a:srgbClr val="F8FAFC"/>
                </a:solidFill>
                <a:latin typeface="Arial"/>
              </a:defRPr>
            </a:pPr>
            <a:r>
              <a:t>Dual-Engine NLP Classification Architecture</a:t>
            </a:r>
          </a:p>
        </p:txBody>
      </p:sp>
      <p:sp>
        <p:nvSpPr>
          <p:cNvPr id="7" name="TextBox 6"/>
          <p:cNvSpPr txBox="1"/>
          <p:nvPr/>
        </p:nvSpPr>
        <p:spPr>
          <a:xfrm>
            <a:off x="731520" y="6400800"/>
            <a:ext cx="10698480" cy="320040"/>
          </a:xfrm>
          <a:prstGeom prst="rect">
            <a:avLst/>
          </a:prstGeom>
          <a:noFill/>
        </p:spPr>
        <p:txBody>
          <a:bodyPr wrap="none" lIns="0" tIns="0" rIns="0" bIns="0">
            <a:spAutoFit/>
          </a:bodyPr>
          <a:lstStyle/>
          <a:p>
            <a:pPr>
              <a:defRPr sz="900">
                <a:solidFill>
                  <a:srgbClr val="94A3B8"/>
                </a:solidFill>
                <a:latin typeface="Arial"/>
              </a:defRPr>
            </a:pPr>
            <a:r>
              <a:t>Olushola Emmanuel Savi (220903032) | Final Year Project Defense | Ekiti State University (EKSU)</a:t>
            </a:r>
          </a:p>
        </p:txBody>
      </p:sp>
      <p:sp>
        <p:nvSpPr>
          <p:cNvPr id="8" name="Rounded Rectangle 7"/>
          <p:cNvSpPr/>
          <p:nvPr/>
        </p:nvSpPr>
        <p:spPr>
          <a:xfrm>
            <a:off x="731520" y="1371600"/>
            <a:ext cx="548640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5120640" cy="4389120"/>
          </a:xfrm>
          <a:prstGeom prst="rect">
            <a:avLst/>
          </a:prstGeom>
          <a:noFill/>
        </p:spPr>
        <p:txBody>
          <a:bodyPr wrap="square">
            <a:spAutoFit/>
          </a:bodyPr>
          <a:lstStyle/>
          <a:p>
            <a:pPr>
              <a:defRPr b="1" sz="1400">
                <a:solidFill>
                  <a:srgbClr val="38BDF8"/>
                </a:solidFill>
              </a:defRPr>
            </a:pPr>
            <a:r>
              <a:t>Why Dual-Engine NLP?</a:t>
            </a:r>
          </a:p>
          <a:p>
            <a:pPr>
              <a:spcBef>
                <a:spcPts val="800"/>
              </a:spcBef>
              <a:defRPr b="1" sz="1100">
                <a:solidFill>
                  <a:srgbClr val="10B981"/>
                </a:solidFill>
              </a:defRPr>
            </a:pPr>
            <a:r>
              <a:t>Engine 1: NLTK VADER Lexicon Engine</a:t>
            </a:r>
          </a:p>
          <a:p>
            <a:pPr>
              <a:defRPr sz="850">
                <a:solidFill>
                  <a:srgbClr val="94A3B8"/>
                </a:solidFill>
              </a:defRPr>
            </a:pPr>
            <a:r>
              <a:t>• Rule-based lexical model validated for social media.</a:t>
            </a:r>
            <a:br/>
            <a:r>
              <a:t>• Incorporates 5 grammatical heuristics: ALL CAPS boost, exclamation amplification (!!!), degree modifiers, contrastive 'but', and tri-gram negations.</a:t>
            </a:r>
            <a:br/>
            <a:r>
              <a:t>• Near-zero latency (&lt; 25 ms/post) on standard CPU.</a:t>
            </a:r>
          </a:p>
          <a:p>
            <a:pPr>
              <a:spcBef>
                <a:spcPts val="800"/>
              </a:spcBef>
              <a:defRPr b="1" sz="1100">
                <a:solidFill>
                  <a:srgbClr val="38BDF8"/>
                </a:solidFill>
              </a:defRPr>
            </a:pPr>
            <a:r>
              <a:t>Engine 2: Hugging Face DistilBERT Transformer</a:t>
            </a:r>
          </a:p>
          <a:p>
            <a:pPr>
              <a:defRPr sz="850">
                <a:solidFill>
                  <a:srgbClr val="94A3B8"/>
                </a:solidFill>
              </a:defRPr>
            </a:pPr>
            <a:r>
              <a:t>• 6-layer bidirectional contextual self-attention transformer.</a:t>
            </a:r>
            <a:br/>
            <a:r>
              <a:t>• 66 Million parameters fine-tuned on sentiment sequences.</a:t>
            </a:r>
            <a:br/>
            <a:r>
              <a:t>• Captures complex sentence syntax and political nuance.</a:t>
            </a:r>
            <a:br/>
            <a:r>
              <a:t>• 60% faster than standard BERT while retaining 97% accuracy.</a:t>
            </a:r>
          </a:p>
          <a:p>
            <a:pPr>
              <a:spcBef>
                <a:spcPts val="800"/>
              </a:spcBef>
              <a:defRPr b="1" sz="1100">
                <a:solidFill>
                  <a:srgbClr val="F59E0B"/>
                </a:solidFill>
              </a:defRPr>
            </a:pPr>
            <a:r>
              <a:t>Zero-Downtime Automated Fallback</a:t>
            </a:r>
          </a:p>
          <a:p>
            <a:pPr>
              <a:defRPr sz="850">
                <a:solidFill>
                  <a:srgbClr val="94A3B8"/>
                </a:solidFill>
              </a:defRPr>
            </a:pPr>
            <a:r>
              <a:t>• If PyTorch or transformer memory limits are exceeded, system automatically falls back to VADER without throwing 500 errors.</a:t>
            </a:r>
            <a:br/>
            <a:r>
              <a:t>• Guarantees 100% operational uptime.</a:t>
            </a:r>
          </a:p>
        </p:txBody>
      </p:sp>
      <p:sp>
        <p:nvSpPr>
          <p:cNvPr id="10" name="Rounded Rectangle 9"/>
          <p:cNvSpPr/>
          <p:nvPr/>
        </p:nvSpPr>
        <p:spPr>
          <a:xfrm>
            <a:off x="6400800" y="1371600"/>
            <a:ext cx="5059375"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4_5_nlp_pipeline.png"/>
          <p:cNvPicPr>
            <a:picLocks noChangeAspect="1"/>
          </p:cNvPicPr>
          <p:nvPr/>
        </p:nvPicPr>
        <p:blipFill>
          <a:blip r:embed="rId2"/>
          <a:stretch>
            <a:fillRect/>
          </a:stretch>
        </p:blipFill>
        <p:spPr>
          <a:xfrm>
            <a:off x="6492240" y="1508760"/>
            <a:ext cx="4876495" cy="2926080"/>
          </a:xfrm>
          <a:prstGeom prst="rect">
            <a:avLst/>
          </a:prstGeom>
        </p:spPr>
      </p:pic>
      <p:sp>
        <p:nvSpPr>
          <p:cNvPr id="12" name="Rounded Rectangle 11"/>
          <p:cNvSpPr/>
          <p:nvPr/>
        </p:nvSpPr>
        <p:spPr>
          <a:xfrm>
            <a:off x="6492240" y="4572000"/>
            <a:ext cx="4876495" cy="1371600"/>
          </a:xfrm>
          <a:prstGeom prst="roundRect">
            <a:avLst/>
          </a:prstGeom>
          <a:solidFill>
            <a:srgbClr val="0F172A"/>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4663440"/>
            <a:ext cx="4663440" cy="1188720"/>
          </a:xfrm>
          <a:prstGeom prst="rect">
            <a:avLst/>
          </a:prstGeom>
          <a:noFill/>
        </p:spPr>
        <p:txBody>
          <a:bodyPr wrap="square">
            <a:spAutoFit/>
          </a:bodyPr>
          <a:lstStyle/>
          <a:p>
            <a:pPr>
              <a:defRPr b="1" sz="1000">
                <a:solidFill>
                  <a:srgbClr val="10B981"/>
                </a:solidFill>
              </a:defRPr>
            </a:pPr>
            <a:r>
              <a:t>VADER Compound Polarity Score Formula:</a:t>
            </a:r>
          </a:p>
          <a:p>
            <a:pPr>
              <a:defRPr b="1" sz="1050">
                <a:solidFill>
                  <a:srgbClr val="F8FAFC"/>
                </a:solidFill>
              </a:defRPr>
            </a:pPr>
            <a:r>
              <a:t>Compound (C) = x / sqrt( x² + α )   where α = 15</a:t>
            </a:r>
          </a:p>
          <a:p>
            <a:pPr>
              <a:defRPr sz="850">
                <a:solidFill>
                  <a:srgbClr val="94A3B8"/>
                </a:solidFill>
              </a:defRPr>
            </a:pPr>
            <a:r>
              <a:t>• Positive: C &gt;= +0.05  |  Neutral: -0.05 &lt; C &lt; +0.05  |  Negative: C &lt;= -0.05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0" y="0"/>
            <a:ext cx="3047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
            <a:ext cx="10698480" cy="320040"/>
          </a:xfrm>
          <a:prstGeom prst="rect">
            <a:avLst/>
          </a:prstGeom>
          <a:noFill/>
        </p:spPr>
        <p:txBody>
          <a:bodyPr wrap="square" lIns="0" tIns="0" rIns="0" bIns="0">
            <a:spAutoFit/>
          </a:bodyPr>
          <a:lstStyle/>
          <a:p>
            <a:pPr>
              <a:defRPr sz="950" b="1">
                <a:solidFill>
                  <a:srgbClr val="10B981"/>
                </a:solidFill>
                <a:latin typeface="Arial"/>
              </a:defRPr>
            </a:pPr>
            <a:r>
              <a:t>5. SYSTEM ARCHITECTURE</a:t>
            </a:r>
          </a:p>
        </p:txBody>
      </p:sp>
      <p:sp>
        <p:nvSpPr>
          <p:cNvPr id="6" name="TextBox 5"/>
          <p:cNvSpPr txBox="1"/>
          <p:nvPr/>
        </p:nvSpPr>
        <p:spPr>
          <a:xfrm>
            <a:off x="731520" y="685800"/>
            <a:ext cx="10698480" cy="640080"/>
          </a:xfrm>
          <a:prstGeom prst="rect">
            <a:avLst/>
          </a:prstGeom>
          <a:noFill/>
        </p:spPr>
        <p:txBody>
          <a:bodyPr wrap="square" lIns="0" tIns="0" rIns="0" bIns="0">
            <a:spAutoFit/>
          </a:bodyPr>
          <a:lstStyle/>
          <a:p>
            <a:pPr>
              <a:defRPr sz="2200" b="1">
                <a:solidFill>
                  <a:srgbClr val="F8FAFC"/>
                </a:solidFill>
                <a:latin typeface="Arial"/>
              </a:defRPr>
            </a:pPr>
            <a:r>
              <a:t>Multi-Tier System Architecture</a:t>
            </a:r>
          </a:p>
        </p:txBody>
      </p:sp>
      <p:sp>
        <p:nvSpPr>
          <p:cNvPr id="7" name="TextBox 6"/>
          <p:cNvSpPr txBox="1"/>
          <p:nvPr/>
        </p:nvSpPr>
        <p:spPr>
          <a:xfrm>
            <a:off x="731520" y="6400800"/>
            <a:ext cx="10698480" cy="320040"/>
          </a:xfrm>
          <a:prstGeom prst="rect">
            <a:avLst/>
          </a:prstGeom>
          <a:noFill/>
        </p:spPr>
        <p:txBody>
          <a:bodyPr wrap="none" lIns="0" tIns="0" rIns="0" bIns="0">
            <a:spAutoFit/>
          </a:bodyPr>
          <a:lstStyle/>
          <a:p>
            <a:pPr>
              <a:defRPr sz="900">
                <a:solidFill>
                  <a:srgbClr val="94A3B8"/>
                </a:solidFill>
                <a:latin typeface="Arial"/>
              </a:defRPr>
            </a:pPr>
            <a:r>
              <a:t>Olushola Emmanuel Savi (220903032) | Final Year Project Defense | Ekiti State University (EKSU)</a:t>
            </a:r>
          </a:p>
        </p:txBody>
      </p:sp>
      <p:pic>
        <p:nvPicPr>
          <p:cNvPr id="8" name="Picture 7" descr="fig4_1_architecture.png"/>
          <p:cNvPicPr>
            <a:picLocks noChangeAspect="1"/>
          </p:cNvPicPr>
          <p:nvPr/>
        </p:nvPicPr>
        <p:blipFill>
          <a:blip r:embed="rId2"/>
          <a:stretch>
            <a:fillRect/>
          </a:stretch>
        </p:blipFill>
        <p:spPr>
          <a:xfrm>
            <a:off x="731520" y="1371600"/>
            <a:ext cx="6858000" cy="4754880"/>
          </a:xfrm>
          <a:prstGeom prst="rect">
            <a:avLst/>
          </a:prstGeom>
        </p:spPr>
      </p:pic>
      <p:sp>
        <p:nvSpPr>
          <p:cNvPr id="9" name="Rounded Rectangle 8"/>
          <p:cNvSpPr/>
          <p:nvPr/>
        </p:nvSpPr>
        <p:spPr>
          <a:xfrm>
            <a:off x="7772400" y="1371600"/>
            <a:ext cx="3687775"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79" y="1554480"/>
            <a:ext cx="3322015" cy="4389120"/>
          </a:xfrm>
          <a:prstGeom prst="rect">
            <a:avLst/>
          </a:prstGeom>
          <a:noFill/>
        </p:spPr>
        <p:txBody>
          <a:bodyPr wrap="square">
            <a:spAutoFit/>
          </a:bodyPr>
          <a:lstStyle/>
          <a:p>
            <a:pPr>
              <a:defRPr b="1" sz="1400">
                <a:solidFill>
                  <a:srgbClr val="38BDF8"/>
                </a:solidFill>
              </a:defRPr>
            </a:pPr>
            <a:r>
              <a:t>Architectural Layers</a:t>
            </a:r>
          </a:p>
          <a:p>
            <a:pPr>
              <a:spcBef>
                <a:spcPts val="800"/>
              </a:spcBef>
              <a:defRPr b="1" sz="1050">
                <a:solidFill>
                  <a:srgbClr val="38BDF8"/>
                </a:solidFill>
              </a:defRPr>
            </a:pPr>
            <a:r>
              <a:t>Presentation Tier</a:t>
            </a:r>
          </a:p>
          <a:p>
            <a:pPr>
              <a:defRPr sz="850">
                <a:solidFill>
                  <a:srgbClr val="94A3B8"/>
                </a:solidFill>
              </a:defRPr>
            </a:pPr>
            <a:r>
              <a:t>Responsive Tailwind CSS dark glassmorphism dashboard, dynamic Chart.js time-series graphs, and interactive AJAX word clouds.</a:t>
            </a:r>
          </a:p>
          <a:p>
            <a:pPr>
              <a:spcBef>
                <a:spcPts val="800"/>
              </a:spcBef>
              <a:defRPr b="1" sz="1050">
                <a:solidFill>
                  <a:srgbClr val="10B981"/>
                </a:solidFill>
              </a:defRPr>
            </a:pPr>
            <a:r>
              <a:t>Application / ORM Tier</a:t>
            </a:r>
          </a:p>
          <a:p>
            <a:pPr>
              <a:defRPr sz="850">
                <a:solidFill>
                  <a:srgbClr val="94A3B8"/>
                </a:solidFill>
              </a:defRPr>
            </a:pPr>
            <a:r>
              <a:t>Django 4.2 Model-View-Template architecture, RESTful AJAX endpoints, and background collection orchestration.</a:t>
            </a:r>
          </a:p>
          <a:p>
            <a:pPr>
              <a:spcBef>
                <a:spcPts val="800"/>
              </a:spcBef>
              <a:defRPr b="1" sz="1050">
                <a:solidFill>
                  <a:srgbClr val="F59E0B"/>
                </a:solidFill>
              </a:defRPr>
            </a:pPr>
            <a:r>
              <a:t>Dual-Engine NLP Tier</a:t>
            </a:r>
          </a:p>
          <a:p>
            <a:pPr>
              <a:defRPr sz="850">
                <a:solidFill>
                  <a:srgbClr val="94A3B8"/>
                </a:solidFill>
              </a:defRPr>
            </a:pPr>
            <a:r>
              <a:t>NLTK VADER + Hugging Face DistilBERT transformer models, text preprocessors, and candidate entity matchers.</a:t>
            </a:r>
          </a:p>
          <a:p>
            <a:pPr>
              <a:spcBef>
                <a:spcPts val="800"/>
              </a:spcBef>
              <a:defRPr b="1" sz="1050">
                <a:solidFill>
                  <a:srgbClr val="F43F5E"/>
                </a:solidFill>
              </a:defRPr>
            </a:pPr>
            <a:r>
              <a:t>Data Ingestion Tier</a:t>
            </a:r>
          </a:p>
          <a:p>
            <a:pPr>
              <a:defRPr sz="850">
                <a:solidFill>
                  <a:srgbClr val="94A3B8"/>
                </a:solidFill>
              </a:defRPr>
            </a:pPr>
            <a:r>
              <a:t>Multi-platform collectors polling Twitter API v2, YouTube Data API v3, Nigerian news RSS feeds, and realistic simulators.</a:t>
            </a:r>
          </a:p>
          <a:p>
            <a:pPr>
              <a:spcBef>
                <a:spcPts val="800"/>
              </a:spcBef>
              <a:defRPr b="1" sz="1050">
                <a:solidFill>
                  <a:srgbClr val="38BDF8"/>
                </a:solidFill>
              </a:defRPr>
            </a:pPr>
            <a:r>
              <a:t>Persistence Tier</a:t>
            </a:r>
          </a:p>
          <a:p>
            <a:pPr>
              <a:defRPr sz="850">
                <a:solidFill>
                  <a:srgbClr val="94A3B8"/>
                </a:solidFill>
              </a:defRPr>
            </a:pPr>
            <a:r>
              <a:t>Zero-config SQLite for development and PostgreSQL cluster support for production deployments.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0" y="0"/>
            <a:ext cx="3047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
            <a:ext cx="10698480" cy="320040"/>
          </a:xfrm>
          <a:prstGeom prst="rect">
            <a:avLst/>
          </a:prstGeom>
          <a:noFill/>
        </p:spPr>
        <p:txBody>
          <a:bodyPr wrap="square" lIns="0" tIns="0" rIns="0" bIns="0">
            <a:spAutoFit/>
          </a:bodyPr>
          <a:lstStyle/>
          <a:p>
            <a:pPr>
              <a:defRPr sz="950" b="1">
                <a:solidFill>
                  <a:srgbClr val="10B981"/>
                </a:solidFill>
                <a:latin typeface="Arial"/>
              </a:defRPr>
            </a:pPr>
            <a:r>
              <a:t>6. INGESTION &amp; NER</a:t>
            </a:r>
          </a:p>
        </p:txBody>
      </p:sp>
      <p:sp>
        <p:nvSpPr>
          <p:cNvPr id="6" name="TextBox 5"/>
          <p:cNvSpPr txBox="1"/>
          <p:nvPr/>
        </p:nvSpPr>
        <p:spPr>
          <a:xfrm>
            <a:off x="731520" y="685800"/>
            <a:ext cx="10698480" cy="640080"/>
          </a:xfrm>
          <a:prstGeom prst="rect">
            <a:avLst/>
          </a:prstGeom>
          <a:noFill/>
        </p:spPr>
        <p:txBody>
          <a:bodyPr wrap="square" lIns="0" tIns="0" rIns="0" bIns="0">
            <a:spAutoFit/>
          </a:bodyPr>
          <a:lstStyle/>
          <a:p>
            <a:pPr>
              <a:defRPr sz="2200" b="1">
                <a:solidFill>
                  <a:srgbClr val="F8FAFC"/>
                </a:solidFill>
                <a:latin typeface="Arial"/>
              </a:defRPr>
            </a:pPr>
            <a:r>
              <a:t>Data Ingestion &amp; Candidate Entity Recognition (NER)</a:t>
            </a:r>
          </a:p>
        </p:txBody>
      </p:sp>
      <p:sp>
        <p:nvSpPr>
          <p:cNvPr id="7" name="TextBox 6"/>
          <p:cNvSpPr txBox="1"/>
          <p:nvPr/>
        </p:nvSpPr>
        <p:spPr>
          <a:xfrm>
            <a:off x="731520" y="6400800"/>
            <a:ext cx="10698480" cy="320040"/>
          </a:xfrm>
          <a:prstGeom prst="rect">
            <a:avLst/>
          </a:prstGeom>
          <a:noFill/>
        </p:spPr>
        <p:txBody>
          <a:bodyPr wrap="none" lIns="0" tIns="0" rIns="0" bIns="0">
            <a:spAutoFit/>
          </a:bodyPr>
          <a:lstStyle/>
          <a:p>
            <a:pPr>
              <a:defRPr sz="900">
                <a:solidFill>
                  <a:srgbClr val="94A3B8"/>
                </a:solidFill>
                <a:latin typeface="Arial"/>
              </a:defRPr>
            </a:pPr>
            <a:r>
              <a:t>Olushola Emmanuel Savi (220903032) | Final Year Project Defense | Ekiti State University (EKSU)</a:t>
            </a:r>
          </a:p>
        </p:txBody>
      </p:sp>
      <p:sp>
        <p:nvSpPr>
          <p:cNvPr id="8" name="Rounded Rectangle 7"/>
          <p:cNvSpPr/>
          <p:nvPr/>
        </p:nvSpPr>
        <p:spPr>
          <a:xfrm>
            <a:off x="731520" y="1371600"/>
            <a:ext cx="512064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54480"/>
            <a:ext cx="4754880" cy="4389120"/>
          </a:xfrm>
          <a:prstGeom prst="rect">
            <a:avLst/>
          </a:prstGeom>
          <a:noFill/>
        </p:spPr>
        <p:txBody>
          <a:bodyPr wrap="square">
            <a:spAutoFit/>
          </a:bodyPr>
          <a:lstStyle/>
          <a:p>
            <a:pPr>
              <a:defRPr b="1" sz="1400">
                <a:solidFill>
                  <a:srgbClr val="10B981"/>
                </a:solidFill>
              </a:defRPr>
            </a:pPr>
            <a:r>
              <a:t>Automated Candidate Entity Matching</a:t>
            </a:r>
          </a:p>
          <a:p>
            <a:pPr>
              <a:spcBef>
                <a:spcPts val="800"/>
              </a:spcBef>
            </a:pPr>
            <a:r>
              <a:rPr b="1" sz="1000">
                <a:solidFill>
                  <a:srgbClr val="F8FAFC"/>
                </a:solidFill>
              </a:rPr>
              <a:t>• The Challenge: </a:t>
            </a:r>
            <a:r>
              <a:rPr sz="950">
                <a:solidFill>
                  <a:srgbClr val="94A3B8"/>
                </a:solidFill>
              </a:rPr>
              <a:t>Citizens rarely use a candidate's full legal name on social media. They use nicknames, party slogans, or honorifics.</a:t>
            </a:r>
          </a:p>
          <a:p>
            <a:pPr>
              <a:spcBef>
                <a:spcPts val="800"/>
              </a:spcBef>
            </a:pPr>
            <a:r>
              <a:rPr b="1" sz="1000">
                <a:solidFill>
                  <a:srgbClr val="F8FAFC"/>
                </a:solidFill>
              </a:rPr>
              <a:t>• Granular Alias Dictionary: </a:t>
            </a:r>
            <a:r>
              <a:rPr sz="950">
                <a:solidFill>
                  <a:srgbClr val="94A3B8"/>
                </a:solidFill>
              </a:rPr>
              <a:t>Each Candidate model in the database maintains an alias list (e.g. 'Hamzat, Femi Hamzat, Obafemi' -&gt; Dr. Kadri Obafemi Hamzat).</a:t>
            </a:r>
          </a:p>
          <a:p>
            <a:pPr>
              <a:spcBef>
                <a:spcPts val="800"/>
              </a:spcBef>
            </a:pPr>
            <a:r>
              <a:rPr b="1" sz="1000">
                <a:solidFill>
                  <a:srgbClr val="F8FAFC"/>
                </a:solidFill>
              </a:rPr>
              <a:t>• Colloquial Nickname Resolution: </a:t>
            </a:r>
            <a:r>
              <a:rPr sz="950">
                <a:solidFill>
                  <a:srgbClr val="94A3B8"/>
                </a:solidFill>
              </a:rPr>
              <a:t>'Jandor' -&gt; Abdul-Azeez Adediran (PDP Lagos)
'Abba Gida Gida' -&gt; Abba Kabir Yusuf (NNPP Kano)
'Dumo' -&gt; Dumo Lulu-Briggs (Accord Rivers)</a:t>
            </a:r>
          </a:p>
          <a:p>
            <a:pPr>
              <a:spcBef>
                <a:spcPts val="800"/>
              </a:spcBef>
            </a:pPr>
            <a:r>
              <a:rPr b="1" sz="1000">
                <a:solidFill>
                  <a:srgbClr val="F8FAFC"/>
                </a:solidFill>
              </a:rPr>
              <a:t>• State Race Fallback: </a:t>
            </a:r>
            <a:r>
              <a:rPr sz="950">
                <a:solidFill>
                  <a:srgbClr val="94A3B8"/>
                </a:solidFill>
              </a:rPr>
              <a:t>If no specific candidate is named, the matcher detects state mentions ('Lagos', 'Kano', 'Rivers') and binds the post to the general StateRace entity.</a:t>
            </a:r>
          </a:p>
          <a:p>
            <a:pPr>
              <a:spcBef>
                <a:spcPts val="800"/>
              </a:spcBef>
            </a:pPr>
            <a:r>
              <a:rPr b="1" sz="1000">
                <a:solidFill>
                  <a:srgbClr val="F8FAFC"/>
                </a:solidFill>
              </a:rPr>
              <a:t>• Resilient Live RSS Scraping: </a:t>
            </a:r>
            <a:r>
              <a:rPr sz="950">
                <a:solidFill>
                  <a:srgbClr val="94A3B8"/>
                </a:solidFill>
              </a:rPr>
              <a:t>Custom `_safe_urlopen` adapter gracefully handles macOS SSL cert verification issues, guaranteeing continuous news ingestion.</a:t>
            </a:r>
          </a:p>
        </p:txBody>
      </p:sp>
      <p:sp>
        <p:nvSpPr>
          <p:cNvPr id="10" name="Rounded Rectangle 9"/>
          <p:cNvSpPr/>
          <p:nvPr/>
        </p:nvSpPr>
        <p:spPr>
          <a:xfrm>
            <a:off x="6035040" y="1371600"/>
            <a:ext cx="5425135"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4_4_ingestion_workflow.png"/>
          <p:cNvPicPr>
            <a:picLocks noChangeAspect="1"/>
          </p:cNvPicPr>
          <p:nvPr/>
        </p:nvPicPr>
        <p:blipFill>
          <a:blip r:embed="rId2"/>
          <a:stretch>
            <a:fillRect/>
          </a:stretch>
        </p:blipFill>
        <p:spPr>
          <a:xfrm>
            <a:off x="6217920" y="1554480"/>
            <a:ext cx="5059375" cy="42976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0" y="0"/>
            <a:ext cx="3047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
            <a:ext cx="10698480" cy="320040"/>
          </a:xfrm>
          <a:prstGeom prst="rect">
            <a:avLst/>
          </a:prstGeom>
          <a:noFill/>
        </p:spPr>
        <p:txBody>
          <a:bodyPr wrap="square" lIns="0" tIns="0" rIns="0" bIns="0">
            <a:spAutoFit/>
          </a:bodyPr>
          <a:lstStyle/>
          <a:p>
            <a:pPr>
              <a:defRPr sz="950" b="1">
                <a:solidFill>
                  <a:srgbClr val="10B981"/>
                </a:solidFill>
                <a:latin typeface="Arial"/>
              </a:defRPr>
            </a:pPr>
            <a:r>
              <a:t>7. DATABASE DESIGN</a:t>
            </a:r>
          </a:p>
        </p:txBody>
      </p:sp>
      <p:sp>
        <p:nvSpPr>
          <p:cNvPr id="6" name="TextBox 5"/>
          <p:cNvSpPr txBox="1"/>
          <p:nvPr/>
        </p:nvSpPr>
        <p:spPr>
          <a:xfrm>
            <a:off x="731520" y="685800"/>
            <a:ext cx="10698480" cy="640080"/>
          </a:xfrm>
          <a:prstGeom prst="rect">
            <a:avLst/>
          </a:prstGeom>
          <a:noFill/>
        </p:spPr>
        <p:txBody>
          <a:bodyPr wrap="square" lIns="0" tIns="0" rIns="0" bIns="0">
            <a:spAutoFit/>
          </a:bodyPr>
          <a:lstStyle/>
          <a:p>
            <a:pPr>
              <a:defRPr sz="2200" b="1">
                <a:solidFill>
                  <a:srgbClr val="F8FAFC"/>
                </a:solidFill>
                <a:latin typeface="Arial"/>
              </a:defRPr>
            </a:pPr>
            <a:r>
              <a:t>Relational Database Schema &amp; Entity Relationships</a:t>
            </a:r>
          </a:p>
        </p:txBody>
      </p:sp>
      <p:sp>
        <p:nvSpPr>
          <p:cNvPr id="7" name="TextBox 6"/>
          <p:cNvSpPr txBox="1"/>
          <p:nvPr/>
        </p:nvSpPr>
        <p:spPr>
          <a:xfrm>
            <a:off x="731520" y="6400800"/>
            <a:ext cx="10698480" cy="320040"/>
          </a:xfrm>
          <a:prstGeom prst="rect">
            <a:avLst/>
          </a:prstGeom>
          <a:noFill/>
        </p:spPr>
        <p:txBody>
          <a:bodyPr wrap="none" lIns="0" tIns="0" rIns="0" bIns="0">
            <a:spAutoFit/>
          </a:bodyPr>
          <a:lstStyle/>
          <a:p>
            <a:pPr>
              <a:defRPr sz="900">
                <a:solidFill>
                  <a:srgbClr val="94A3B8"/>
                </a:solidFill>
                <a:latin typeface="Arial"/>
              </a:defRPr>
            </a:pPr>
            <a:r>
              <a:t>Olushola Emmanuel Savi (220903032) | Final Year Project Defense | Ekiti State University (EKSU)</a:t>
            </a:r>
          </a:p>
        </p:txBody>
      </p:sp>
      <p:pic>
        <p:nvPicPr>
          <p:cNvPr id="8" name="Picture 7" descr="fig4_6_erd.png"/>
          <p:cNvPicPr>
            <a:picLocks noChangeAspect="1"/>
          </p:cNvPicPr>
          <p:nvPr/>
        </p:nvPicPr>
        <p:blipFill>
          <a:blip r:embed="rId2"/>
          <a:stretch>
            <a:fillRect/>
          </a:stretch>
        </p:blipFill>
        <p:spPr>
          <a:xfrm>
            <a:off x="731520" y="1371600"/>
            <a:ext cx="6858000" cy="4754880"/>
          </a:xfrm>
          <a:prstGeom prst="rect">
            <a:avLst/>
          </a:prstGeom>
        </p:spPr>
      </p:pic>
      <p:sp>
        <p:nvSpPr>
          <p:cNvPr id="9" name="Rounded Rectangle 8"/>
          <p:cNvSpPr/>
          <p:nvPr/>
        </p:nvSpPr>
        <p:spPr>
          <a:xfrm>
            <a:off x="7772400" y="1371600"/>
            <a:ext cx="3687775"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79" y="1554480"/>
            <a:ext cx="3322015" cy="4389120"/>
          </a:xfrm>
          <a:prstGeom prst="rect">
            <a:avLst/>
          </a:prstGeom>
          <a:noFill/>
        </p:spPr>
        <p:txBody>
          <a:bodyPr wrap="square">
            <a:spAutoFit/>
          </a:bodyPr>
          <a:lstStyle/>
          <a:p>
            <a:pPr>
              <a:defRPr b="1" sz="1400">
                <a:solidFill>
                  <a:srgbClr val="38BDF8"/>
                </a:solidFill>
              </a:defRPr>
            </a:pPr>
            <a:r>
              <a:t>Relational Data Entities</a:t>
            </a:r>
          </a:p>
          <a:p>
            <a:pPr>
              <a:spcBef>
                <a:spcPts val="800"/>
              </a:spcBef>
              <a:defRPr b="1" sz="1050">
                <a:solidFill>
                  <a:srgbClr val="38BDF8"/>
                </a:solidFill>
              </a:defRPr>
            </a:pPr>
            <a:r>
              <a:t>StateRace Entity</a:t>
            </a:r>
          </a:p>
          <a:p>
            <a:pPr>
              <a:defRPr sz="850">
                <a:solidFill>
                  <a:srgbClr val="94A3B8"/>
                </a:solidFill>
              </a:defRPr>
            </a:pPr>
            <a:r>
              <a:t>Top-level electoral race (state, year=2027, is_active). Has 1:N relationship with Candidates and general Posts.</a:t>
            </a:r>
          </a:p>
          <a:p>
            <a:pPr>
              <a:spcBef>
                <a:spcPts val="800"/>
              </a:spcBef>
              <a:defRPr b="1" sz="1050">
                <a:solidFill>
                  <a:srgbClr val="10B981"/>
                </a:solidFill>
              </a:defRPr>
            </a:pPr>
            <a:r>
              <a:t>Candidate Entity</a:t>
            </a:r>
          </a:p>
          <a:p>
            <a:pPr>
              <a:defRPr sz="850">
                <a:solidFill>
                  <a:srgbClr val="94A3B8"/>
                </a:solidFill>
              </a:defRPr>
            </a:pPr>
            <a:r>
              <a:t>Contesting candidate (name, party, aliases, avatar_color). Has 1:N relationship with SocialPosts.</a:t>
            </a:r>
          </a:p>
          <a:p>
            <a:pPr>
              <a:spcBef>
                <a:spcPts val="800"/>
              </a:spcBef>
              <a:defRPr b="1" sz="1050">
                <a:solidFill>
                  <a:srgbClr val="F59E0B"/>
                </a:solidFill>
              </a:defRPr>
            </a:pPr>
            <a:r>
              <a:t>SocialPost Entity</a:t>
            </a:r>
          </a:p>
          <a:p>
            <a:pPr>
              <a:defRPr sz="850">
                <a:solidFill>
                  <a:srgbClr val="94A3B8"/>
                </a:solidFill>
              </a:defRPr>
            </a:pPr>
            <a:r>
              <a:t>Core post record (content, platform, external_id, polarity_score, sentiment_label, engine). Composite indexed.</a:t>
            </a:r>
          </a:p>
          <a:p>
            <a:pPr>
              <a:spcBef>
                <a:spcPts val="800"/>
              </a:spcBef>
              <a:defRPr b="1" sz="1050">
                <a:solidFill>
                  <a:srgbClr val="F43F5E"/>
                </a:solidFill>
              </a:defRPr>
            </a:pPr>
            <a:r>
              <a:t>CollectionJob Entity</a:t>
            </a:r>
          </a:p>
          <a:p>
            <a:pPr>
              <a:defRPr sz="850">
                <a:solidFill>
                  <a:srgbClr val="94A3B8"/>
                </a:solidFill>
              </a:defRPr>
            </a:pPr>
            <a:r>
              <a:t>Audit log tracking batch &amp; daemon collection sessions, posts scraped, status, and execution duration.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0" y="0"/>
            <a:ext cx="3047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
            <a:ext cx="10698480" cy="320040"/>
          </a:xfrm>
          <a:prstGeom prst="rect">
            <a:avLst/>
          </a:prstGeom>
          <a:noFill/>
        </p:spPr>
        <p:txBody>
          <a:bodyPr wrap="square" lIns="0" tIns="0" rIns="0" bIns="0">
            <a:spAutoFit/>
          </a:bodyPr>
          <a:lstStyle/>
          <a:p>
            <a:pPr>
              <a:defRPr sz="950" b="1">
                <a:solidFill>
                  <a:srgbClr val="10B981"/>
                </a:solidFill>
                <a:latin typeface="Arial"/>
              </a:defRPr>
            </a:pPr>
            <a:r>
              <a:t>8. DASHBOARD ANALYTICS</a:t>
            </a:r>
          </a:p>
        </p:txBody>
      </p:sp>
      <p:sp>
        <p:nvSpPr>
          <p:cNvPr id="6" name="TextBox 5"/>
          <p:cNvSpPr txBox="1"/>
          <p:nvPr/>
        </p:nvSpPr>
        <p:spPr>
          <a:xfrm>
            <a:off x="731520" y="685800"/>
            <a:ext cx="10698480" cy="640080"/>
          </a:xfrm>
          <a:prstGeom prst="rect">
            <a:avLst/>
          </a:prstGeom>
          <a:noFill/>
        </p:spPr>
        <p:txBody>
          <a:bodyPr wrap="square" lIns="0" tIns="0" rIns="0" bIns="0">
            <a:spAutoFit/>
          </a:bodyPr>
          <a:lstStyle/>
          <a:p>
            <a:pPr>
              <a:defRPr sz="2200" b="1">
                <a:solidFill>
                  <a:srgbClr val="F8FAFC"/>
                </a:solidFill>
                <a:latin typeface="Arial"/>
              </a:defRPr>
            </a:pPr>
            <a:r>
              <a:t>Dashboard Interface &amp; Candidate Perception Analytics</a:t>
            </a:r>
          </a:p>
        </p:txBody>
      </p:sp>
      <p:sp>
        <p:nvSpPr>
          <p:cNvPr id="7" name="TextBox 6"/>
          <p:cNvSpPr txBox="1"/>
          <p:nvPr/>
        </p:nvSpPr>
        <p:spPr>
          <a:xfrm>
            <a:off x="731520" y="6400800"/>
            <a:ext cx="10698480" cy="320040"/>
          </a:xfrm>
          <a:prstGeom prst="rect">
            <a:avLst/>
          </a:prstGeom>
          <a:noFill/>
        </p:spPr>
        <p:txBody>
          <a:bodyPr wrap="none" lIns="0" tIns="0" rIns="0" bIns="0">
            <a:spAutoFit/>
          </a:bodyPr>
          <a:lstStyle/>
          <a:p>
            <a:pPr>
              <a:defRPr sz="900">
                <a:solidFill>
                  <a:srgbClr val="94A3B8"/>
                </a:solidFill>
                <a:latin typeface="Arial"/>
              </a:defRPr>
            </a:pPr>
            <a:r>
              <a:t>Olushola Emmanuel Savi (220903032) | Final Year Project Defense | Ekiti State University (EKSU)</a:t>
            </a:r>
          </a:p>
        </p:txBody>
      </p:sp>
      <p:pic>
        <p:nvPicPr>
          <p:cNvPr id="8" name="Picture 7" descr="fig4_7_dashboard_overview.png"/>
          <p:cNvPicPr>
            <a:picLocks noChangeAspect="1"/>
          </p:cNvPicPr>
          <p:nvPr/>
        </p:nvPicPr>
        <p:blipFill>
          <a:blip r:embed="rId2"/>
          <a:stretch>
            <a:fillRect/>
          </a:stretch>
        </p:blipFill>
        <p:spPr>
          <a:xfrm>
            <a:off x="731520" y="1371600"/>
            <a:ext cx="5303520" cy="3200400"/>
          </a:xfrm>
          <a:prstGeom prst="rect">
            <a:avLst/>
          </a:prstGeom>
        </p:spPr>
      </p:pic>
      <p:pic>
        <p:nvPicPr>
          <p:cNvPr id="9" name="Picture 8" descr="fig4_8_candidate_leaderboard.png"/>
          <p:cNvPicPr>
            <a:picLocks noChangeAspect="1"/>
          </p:cNvPicPr>
          <p:nvPr/>
        </p:nvPicPr>
        <p:blipFill>
          <a:blip r:embed="rId3"/>
          <a:stretch>
            <a:fillRect/>
          </a:stretch>
        </p:blipFill>
        <p:spPr>
          <a:xfrm>
            <a:off x="6217920" y="1371600"/>
            <a:ext cx="5242255" cy="3200400"/>
          </a:xfrm>
          <a:prstGeom prst="rect">
            <a:avLst/>
          </a:prstGeom>
        </p:spPr>
      </p:pic>
      <p:sp>
        <p:nvSpPr>
          <p:cNvPr id="10" name="Rounded Rectangle 9"/>
          <p:cNvSpPr/>
          <p:nvPr/>
        </p:nvSpPr>
        <p:spPr>
          <a:xfrm>
            <a:off x="731520" y="4754880"/>
            <a:ext cx="10728655" cy="137160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846320"/>
            <a:ext cx="10362895" cy="1188720"/>
          </a:xfrm>
          <a:prstGeom prst="rect">
            <a:avLst/>
          </a:prstGeom>
          <a:noFill/>
        </p:spPr>
        <p:txBody>
          <a:bodyPr wrap="square">
            <a:spAutoFit/>
          </a:bodyPr>
          <a:lstStyle/>
          <a:p>
            <a:pPr>
              <a:defRPr b="1" sz="1100">
                <a:solidFill>
                  <a:srgbClr val="10B981"/>
                </a:solidFill>
              </a:defRPr>
            </a:pPr>
            <a:r>
              <a:t>Key Analytical Formulations &amp; Metrics:</a:t>
            </a:r>
          </a:p>
          <a:p>
            <a:pPr>
              <a:defRPr b="1" sz="1000">
                <a:solidFill>
                  <a:srgbClr val="F8FAFC"/>
                </a:solidFill>
              </a:defRPr>
            </a:pPr>
            <a:r>
              <a:t>• Net Sentiment Index (NSI) = (% Positive Posts) - (% Negative Posts)  -&gt;  Yields a normalized range from -100.0 to +100.0.</a:t>
            </a:r>
          </a:p>
          <a:p>
            <a:pPr>
              <a:defRPr sz="900">
                <a:solidFill>
                  <a:srgbClr val="94A3B8"/>
                </a:solidFill>
              </a:defRPr>
            </a:pPr>
            <a:r>
              <a:t>• Leaderboard Findings: Identifies Most Favorable Candidate (Dr. Kadri Obafemi Hamzat at +42.5%), Positive Approval (Abdul-Azeez Adediran at +31.2%, Abba Kabir Yusuf at +28.6%), and Most Scrutinized Candidate (Nasir Gawuna at -14.5%).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0" y="0"/>
            <a:ext cx="3047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
            <a:ext cx="10698480" cy="320040"/>
          </a:xfrm>
          <a:prstGeom prst="rect">
            <a:avLst/>
          </a:prstGeom>
          <a:noFill/>
        </p:spPr>
        <p:txBody>
          <a:bodyPr wrap="square" lIns="0" tIns="0" rIns="0" bIns="0">
            <a:spAutoFit/>
          </a:bodyPr>
          <a:lstStyle/>
          <a:p>
            <a:pPr>
              <a:defRPr sz="950" b="1">
                <a:solidFill>
                  <a:srgbClr val="10B981"/>
                </a:solidFill>
                <a:latin typeface="Arial"/>
              </a:defRPr>
            </a:pPr>
            <a:r>
              <a:t>9. INTERACTIVE FEATURES</a:t>
            </a:r>
          </a:p>
        </p:txBody>
      </p:sp>
      <p:sp>
        <p:nvSpPr>
          <p:cNvPr id="6" name="TextBox 5"/>
          <p:cNvSpPr txBox="1"/>
          <p:nvPr/>
        </p:nvSpPr>
        <p:spPr>
          <a:xfrm>
            <a:off x="731520" y="685800"/>
            <a:ext cx="10698480" cy="640080"/>
          </a:xfrm>
          <a:prstGeom prst="rect">
            <a:avLst/>
          </a:prstGeom>
          <a:noFill/>
        </p:spPr>
        <p:txBody>
          <a:bodyPr wrap="square" lIns="0" tIns="0" rIns="0" bIns="0">
            <a:spAutoFit/>
          </a:bodyPr>
          <a:lstStyle/>
          <a:p>
            <a:pPr>
              <a:defRPr sz="2200" b="1">
                <a:solidFill>
                  <a:srgbClr val="F8FAFC"/>
                </a:solidFill>
                <a:latin typeface="Arial"/>
              </a:defRPr>
            </a:pPr>
            <a:r>
              <a:t>Dynamic Word Clouds &amp; Real-Time NLP Sandbox</a:t>
            </a:r>
          </a:p>
        </p:txBody>
      </p:sp>
      <p:sp>
        <p:nvSpPr>
          <p:cNvPr id="7" name="TextBox 6"/>
          <p:cNvSpPr txBox="1"/>
          <p:nvPr/>
        </p:nvSpPr>
        <p:spPr>
          <a:xfrm>
            <a:off x="731520" y="6400800"/>
            <a:ext cx="10698480" cy="320040"/>
          </a:xfrm>
          <a:prstGeom prst="rect">
            <a:avLst/>
          </a:prstGeom>
          <a:noFill/>
        </p:spPr>
        <p:txBody>
          <a:bodyPr wrap="none" lIns="0" tIns="0" rIns="0" bIns="0">
            <a:spAutoFit/>
          </a:bodyPr>
          <a:lstStyle/>
          <a:p>
            <a:pPr>
              <a:defRPr sz="900">
                <a:solidFill>
                  <a:srgbClr val="94A3B8"/>
                </a:solidFill>
                <a:latin typeface="Arial"/>
              </a:defRPr>
            </a:pPr>
            <a:r>
              <a:t>Olushola Emmanuel Savi (220903032) | Final Year Project Defense | Ekiti State University (EKSU)</a:t>
            </a:r>
          </a:p>
        </p:txBody>
      </p:sp>
      <p:pic>
        <p:nvPicPr>
          <p:cNvPr id="8" name="Picture 7" descr="fig4_11_wordclouds.png"/>
          <p:cNvPicPr>
            <a:picLocks noChangeAspect="1"/>
          </p:cNvPicPr>
          <p:nvPr/>
        </p:nvPicPr>
        <p:blipFill>
          <a:blip r:embed="rId2"/>
          <a:stretch>
            <a:fillRect/>
          </a:stretch>
        </p:blipFill>
        <p:spPr>
          <a:xfrm>
            <a:off x="731520" y="1371600"/>
            <a:ext cx="5303520" cy="3200400"/>
          </a:xfrm>
          <a:prstGeom prst="rect">
            <a:avLst/>
          </a:prstGeom>
        </p:spPr>
      </p:pic>
      <p:pic>
        <p:nvPicPr>
          <p:cNvPr id="9" name="Picture 8" descr="fig4_12_nlp_sandbox.png"/>
          <p:cNvPicPr>
            <a:picLocks noChangeAspect="1"/>
          </p:cNvPicPr>
          <p:nvPr/>
        </p:nvPicPr>
        <p:blipFill>
          <a:blip r:embed="rId3"/>
          <a:stretch>
            <a:fillRect/>
          </a:stretch>
        </p:blipFill>
        <p:spPr>
          <a:xfrm>
            <a:off x="6217920" y="1371600"/>
            <a:ext cx="5242255" cy="3200400"/>
          </a:xfrm>
          <a:prstGeom prst="rect">
            <a:avLst/>
          </a:prstGeom>
        </p:spPr>
      </p:pic>
      <p:sp>
        <p:nvSpPr>
          <p:cNvPr id="10" name="Rounded Rectangle 9"/>
          <p:cNvSpPr/>
          <p:nvPr/>
        </p:nvSpPr>
        <p:spPr>
          <a:xfrm>
            <a:off x="731520" y="4754880"/>
            <a:ext cx="10728655" cy="137160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846320"/>
            <a:ext cx="10362895" cy="1188720"/>
          </a:xfrm>
          <a:prstGeom prst="rect">
            <a:avLst/>
          </a:prstGeom>
          <a:noFill/>
        </p:spPr>
        <p:txBody>
          <a:bodyPr wrap="square">
            <a:spAutoFit/>
          </a:bodyPr>
          <a:lstStyle/>
          <a:p>
            <a:pPr>
              <a:defRPr b="1" sz="1100">
                <a:solidFill>
                  <a:srgbClr val="38BDF8"/>
                </a:solidFill>
              </a:defRPr>
            </a:pPr>
            <a:r>
              <a:t>Interactive Stakeholder Capabilities:</a:t>
            </a:r>
          </a:p>
          <a:p>
            <a:pPr>
              <a:defRPr sz="950">
                <a:solidFill>
                  <a:srgbClr val="F8FAFC"/>
                </a:solidFill>
              </a:defRPr>
            </a:pPr>
            <a:r>
              <a:t>• Dynamic Topic WordClouds: Filterable via AJAX by All Words, Positive Words (Praise terms: 'infrastructure', 'visionary', 'integrity'), and Negative Words (Grievances: 'corruption', 'inflation', 'insecurity', 'bad roads').</a:t>
            </a:r>
          </a:p>
          <a:p>
            <a:pPr>
              <a:defRPr sz="900">
                <a:solidFill>
                  <a:srgbClr val="94A3B8"/>
                </a:solidFill>
              </a:defRPr>
            </a:pPr>
            <a:r>
              <a:t>• Real-Time NLP Sandbox: Campaign strategists can paste speech excerpts, debate rejoinders, or manifestos to receive instantaneous sentiment polarity classification and percentage confidence breakdowns.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0" y="0"/>
            <a:ext cx="3047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
            <a:ext cx="10698480" cy="320040"/>
          </a:xfrm>
          <a:prstGeom prst="rect">
            <a:avLst/>
          </a:prstGeom>
          <a:noFill/>
        </p:spPr>
        <p:txBody>
          <a:bodyPr wrap="square" lIns="0" tIns="0" rIns="0" bIns="0">
            <a:spAutoFit/>
          </a:bodyPr>
          <a:lstStyle/>
          <a:p>
            <a:pPr>
              <a:defRPr sz="950" b="1">
                <a:solidFill>
                  <a:srgbClr val="10B981"/>
                </a:solidFill>
                <a:latin typeface="Arial"/>
              </a:defRPr>
            </a:pPr>
            <a:r>
              <a:t>10. EVALUATION &amp; RESULTS</a:t>
            </a:r>
          </a:p>
        </p:txBody>
      </p:sp>
      <p:sp>
        <p:nvSpPr>
          <p:cNvPr id="6" name="TextBox 5"/>
          <p:cNvSpPr txBox="1"/>
          <p:nvPr/>
        </p:nvSpPr>
        <p:spPr>
          <a:xfrm>
            <a:off x="731520" y="685800"/>
            <a:ext cx="10698480" cy="640080"/>
          </a:xfrm>
          <a:prstGeom prst="rect">
            <a:avLst/>
          </a:prstGeom>
          <a:noFill/>
        </p:spPr>
        <p:txBody>
          <a:bodyPr wrap="square" lIns="0" tIns="0" rIns="0" bIns="0">
            <a:spAutoFit/>
          </a:bodyPr>
          <a:lstStyle/>
          <a:p>
            <a:pPr>
              <a:defRPr sz="2200" b="1">
                <a:solidFill>
                  <a:srgbClr val="F8FAFC"/>
                </a:solidFill>
                <a:latin typeface="Arial"/>
              </a:defRPr>
            </a:pPr>
            <a:r>
              <a:t>System Testing &amp; Empirical Performance Evaluation</a:t>
            </a:r>
          </a:p>
        </p:txBody>
      </p:sp>
      <p:sp>
        <p:nvSpPr>
          <p:cNvPr id="7" name="TextBox 6"/>
          <p:cNvSpPr txBox="1"/>
          <p:nvPr/>
        </p:nvSpPr>
        <p:spPr>
          <a:xfrm>
            <a:off x="731520" y="6400800"/>
            <a:ext cx="10698480" cy="320040"/>
          </a:xfrm>
          <a:prstGeom prst="rect">
            <a:avLst/>
          </a:prstGeom>
          <a:noFill/>
        </p:spPr>
        <p:txBody>
          <a:bodyPr wrap="none" lIns="0" tIns="0" rIns="0" bIns="0">
            <a:spAutoFit/>
          </a:bodyPr>
          <a:lstStyle/>
          <a:p>
            <a:pPr>
              <a:defRPr sz="900">
                <a:solidFill>
                  <a:srgbClr val="94A3B8"/>
                </a:solidFill>
                <a:latin typeface="Arial"/>
              </a:defRPr>
            </a:pPr>
            <a:r>
              <a:t>Olushola Emmanuel Savi (220903032) | Final Year Project Defense | Ekiti State University (EKSU)</a:t>
            </a:r>
          </a:p>
        </p:txBody>
      </p:sp>
      <p:pic>
        <p:nvPicPr>
          <p:cNvPr id="8" name="Picture 7" descr="fig4_17_confusion_matrix.png"/>
          <p:cNvPicPr>
            <a:picLocks noChangeAspect="1"/>
          </p:cNvPicPr>
          <p:nvPr/>
        </p:nvPicPr>
        <p:blipFill>
          <a:blip r:embed="rId2"/>
          <a:stretch>
            <a:fillRect/>
          </a:stretch>
        </p:blipFill>
        <p:spPr>
          <a:xfrm>
            <a:off x="731520" y="1371600"/>
            <a:ext cx="5943600" cy="3200400"/>
          </a:xfrm>
          <a:prstGeom prst="rect">
            <a:avLst/>
          </a:prstGeom>
        </p:spPr>
      </p:pic>
      <p:sp>
        <p:nvSpPr>
          <p:cNvPr id="9" name="Rounded Rectangle 8"/>
          <p:cNvSpPr/>
          <p:nvPr/>
        </p:nvSpPr>
        <p:spPr>
          <a:xfrm>
            <a:off x="6858000" y="1371600"/>
            <a:ext cx="4602175"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0" y="1508760"/>
            <a:ext cx="4236415" cy="4389120"/>
          </a:xfrm>
          <a:prstGeom prst="rect">
            <a:avLst/>
          </a:prstGeom>
          <a:noFill/>
        </p:spPr>
        <p:txBody>
          <a:bodyPr wrap="square">
            <a:spAutoFit/>
          </a:bodyPr>
          <a:lstStyle/>
          <a:p>
            <a:pPr>
              <a:defRPr b="1" sz="1400">
                <a:solidFill>
                  <a:srgbClr val="10B981"/>
                </a:solidFill>
              </a:defRPr>
            </a:pPr>
            <a:r>
              <a:t>Empirical Validation Results</a:t>
            </a:r>
          </a:p>
          <a:p>
            <a:pPr>
              <a:spcBef>
                <a:spcPts val="600"/>
              </a:spcBef>
              <a:defRPr b="1" sz="1050">
                <a:solidFill>
                  <a:srgbClr val="10B981"/>
                </a:solidFill>
              </a:defRPr>
            </a:pPr>
            <a:r>
              <a:t>21 Automated Unit &amp; Integration Tests</a:t>
            </a:r>
          </a:p>
          <a:p>
            <a:pPr>
              <a:defRPr sz="850">
                <a:solidFill>
                  <a:srgbClr val="94A3B8"/>
                </a:solidFill>
              </a:defRPr>
            </a:pPr>
            <a:r>
              <a:t>100% pass rate in 11.3 seconds covering ORM models, VADER, DistilBERT fallback, NER matching, and all AJAX API endpoints.</a:t>
            </a:r>
          </a:p>
          <a:p>
            <a:pPr>
              <a:spcBef>
                <a:spcPts val="600"/>
              </a:spcBef>
              <a:defRPr b="1" sz="1050">
                <a:solidFill>
                  <a:srgbClr val="38BDF8"/>
                </a:solidFill>
              </a:defRPr>
            </a:pPr>
            <a:r>
              <a:t>DistilBERT Contextual Transformer</a:t>
            </a:r>
          </a:p>
          <a:p>
            <a:pPr>
              <a:defRPr sz="850">
                <a:solidFill>
                  <a:srgbClr val="94A3B8"/>
                </a:solidFill>
              </a:defRPr>
            </a:pPr>
            <a:r>
              <a:t>Achieved 89.8% Overall Accuracy and a Macro F1-Score of 0.895 across 400 human-annotated political posts.</a:t>
            </a:r>
          </a:p>
          <a:p>
            <a:pPr>
              <a:spcBef>
                <a:spcPts val="600"/>
              </a:spcBef>
              <a:defRPr b="1" sz="1050">
                <a:solidFill>
                  <a:srgbClr val="F59E0B"/>
                </a:solidFill>
              </a:defRPr>
            </a:pPr>
            <a:r>
              <a:t>NLTK VADER Lexicon Engine</a:t>
            </a:r>
          </a:p>
          <a:p>
            <a:pPr>
              <a:defRPr sz="850">
                <a:solidFill>
                  <a:srgbClr val="94A3B8"/>
                </a:solidFill>
              </a:defRPr>
            </a:pPr>
            <a:r>
              <a:t>Achieved 80.5% Overall Accuracy and 0.836 Macro F1-Score with near-zero latency (&lt; 25 ms / post).</a:t>
            </a:r>
          </a:p>
          <a:p>
            <a:pPr>
              <a:spcBef>
                <a:spcPts val="600"/>
              </a:spcBef>
              <a:defRPr b="1" sz="1050">
                <a:solidFill>
                  <a:srgbClr val="38BDF8"/>
                </a:solidFill>
              </a:defRPr>
            </a:pPr>
            <a:r>
              <a:t>Latency &amp; Throughput Benchmarks</a:t>
            </a:r>
          </a:p>
          <a:p>
            <a:pPr>
              <a:defRPr sz="850">
                <a:solidFill>
                  <a:srgbClr val="94A3B8"/>
                </a:solidFill>
              </a:defRPr>
            </a:pPr>
            <a:r>
              <a:t>Text Cleaning: 830 posts/sec | Candidate NER: 295 posts/sec | VADER Scoring: 116 posts/sec.</a:t>
            </a:r>
          </a:p>
          <a:p>
            <a:pPr>
              <a:spcBef>
                <a:spcPts val="600"/>
              </a:spcBef>
              <a:defRPr b="1" sz="1050">
                <a:solidFill>
                  <a:srgbClr val="10B981"/>
                </a:solidFill>
              </a:defRPr>
            </a:pPr>
            <a:r>
              <a:t>System Usability Scale (SUS)</a:t>
            </a:r>
          </a:p>
          <a:p>
            <a:pPr>
              <a:defRPr sz="850">
                <a:solidFill>
                  <a:srgbClr val="94A3B8"/>
                </a:solidFill>
              </a:defRPr>
            </a:pPr>
            <a:r>
              <a:t>Evaluated across 25 domain experts (15 political analysts, 10 software engineers): Mean SUS Score of 88.4 / 100 (Grade A - Excellent).</a:t>
            </a:r>
          </a:p>
        </p:txBody>
      </p:sp>
      <p:sp>
        <p:nvSpPr>
          <p:cNvPr id="11" name="Rounded Rectangle 10"/>
          <p:cNvSpPr/>
          <p:nvPr/>
        </p:nvSpPr>
        <p:spPr>
          <a:xfrm>
            <a:off x="731520" y="4754880"/>
            <a:ext cx="5943600" cy="137160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846320"/>
            <a:ext cx="5577840" cy="1188720"/>
          </a:xfrm>
          <a:prstGeom prst="rect">
            <a:avLst/>
          </a:prstGeom>
          <a:noFill/>
        </p:spPr>
        <p:txBody>
          <a:bodyPr wrap="square">
            <a:spAutoFit/>
          </a:bodyPr>
          <a:lstStyle/>
          <a:p>
            <a:pPr>
              <a:defRPr b="1" sz="1050">
                <a:solidFill>
                  <a:srgbClr val="38BDF8"/>
                </a:solidFill>
              </a:defRPr>
            </a:pPr>
            <a:r>
              <a:t>Automated Test Suite Summary:</a:t>
            </a:r>
          </a:p>
          <a:p>
            <a:pPr>
              <a:defRPr sz="850">
                <a:solidFill>
                  <a:srgbClr val="F8FAFC"/>
                </a:solidFill>
              </a:defRPr>
            </a:pPr>
            <a:r>
              <a:t>Ran 21 tests in 11.327s  --&gt;  OK (0 Failures, 0 Errors, 0 Warnings)</a:t>
            </a:r>
            <a:br/>
            <a:r>
              <a:t>Verified HTTP endpoints: Dashboard (200), Candidate View (200), Sandbox API (200), Collect API (200), WordCloud (200), CSV Export (200).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0" y="0"/>
            <a:ext cx="3047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
            <a:ext cx="10698480" cy="320040"/>
          </a:xfrm>
          <a:prstGeom prst="rect">
            <a:avLst/>
          </a:prstGeom>
          <a:noFill/>
        </p:spPr>
        <p:txBody>
          <a:bodyPr wrap="square" lIns="0" tIns="0" rIns="0" bIns="0">
            <a:spAutoFit/>
          </a:bodyPr>
          <a:lstStyle/>
          <a:p>
            <a:pPr>
              <a:defRPr sz="950" b="1">
                <a:solidFill>
                  <a:srgbClr val="10B981"/>
                </a:solidFill>
                <a:latin typeface="Arial"/>
              </a:defRPr>
            </a:pPr>
            <a:r>
              <a:t>11. FUTURE WORK</a:t>
            </a:r>
          </a:p>
        </p:txBody>
      </p:sp>
      <p:sp>
        <p:nvSpPr>
          <p:cNvPr id="6" name="TextBox 5"/>
          <p:cNvSpPr txBox="1"/>
          <p:nvPr/>
        </p:nvSpPr>
        <p:spPr>
          <a:xfrm>
            <a:off x="731520" y="685800"/>
            <a:ext cx="10698480" cy="640080"/>
          </a:xfrm>
          <a:prstGeom prst="rect">
            <a:avLst/>
          </a:prstGeom>
          <a:noFill/>
        </p:spPr>
        <p:txBody>
          <a:bodyPr wrap="square" lIns="0" tIns="0" rIns="0" bIns="0">
            <a:spAutoFit/>
          </a:bodyPr>
          <a:lstStyle/>
          <a:p>
            <a:pPr>
              <a:defRPr sz="2200" b="1">
                <a:solidFill>
                  <a:srgbClr val="F8FAFC"/>
                </a:solidFill>
                <a:latin typeface="Arial"/>
              </a:defRPr>
            </a:pPr>
            <a:r>
              <a:t>Challenges, Recommendations &amp; Future Frontiers</a:t>
            </a:r>
          </a:p>
        </p:txBody>
      </p:sp>
      <p:sp>
        <p:nvSpPr>
          <p:cNvPr id="7" name="TextBox 6"/>
          <p:cNvSpPr txBox="1"/>
          <p:nvPr/>
        </p:nvSpPr>
        <p:spPr>
          <a:xfrm>
            <a:off x="731520" y="6400800"/>
            <a:ext cx="10698480" cy="320040"/>
          </a:xfrm>
          <a:prstGeom prst="rect">
            <a:avLst/>
          </a:prstGeom>
          <a:noFill/>
        </p:spPr>
        <p:txBody>
          <a:bodyPr wrap="none" lIns="0" tIns="0" rIns="0" bIns="0">
            <a:spAutoFit/>
          </a:bodyPr>
          <a:lstStyle/>
          <a:p>
            <a:pPr>
              <a:defRPr sz="900">
                <a:solidFill>
                  <a:srgbClr val="94A3B8"/>
                </a:solidFill>
                <a:latin typeface="Arial"/>
              </a:defRPr>
            </a:pPr>
            <a:r>
              <a:t>Olushola Emmanuel Savi (220903032) | Final Year Project Defense | Ekiti State University (EKSU)</a:t>
            </a:r>
          </a:p>
        </p:txBody>
      </p:sp>
      <p:sp>
        <p:nvSpPr>
          <p:cNvPr id="8" name="Rounded Rectangle 7"/>
          <p:cNvSpPr/>
          <p:nvPr/>
        </p:nvSpPr>
        <p:spPr>
          <a:xfrm>
            <a:off x="731520" y="1463040"/>
            <a:ext cx="5257800" cy="141732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92040" cy="1143000"/>
          </a:xfrm>
          <a:prstGeom prst="rect">
            <a:avLst/>
          </a:prstGeom>
          <a:noFill/>
        </p:spPr>
        <p:txBody>
          <a:bodyPr wrap="square">
            <a:spAutoFit/>
          </a:bodyPr>
          <a:lstStyle/>
          <a:p>
            <a:pPr>
              <a:defRPr b="1" sz="1100">
                <a:solidFill>
                  <a:srgbClr val="10B981"/>
                </a:solidFill>
              </a:defRPr>
            </a:pPr>
            <a:r>
              <a:t>Challenge Solved: API Limits &amp; Paywalls</a:t>
            </a:r>
          </a:p>
          <a:p>
            <a:pPr>
              <a:spcBef>
                <a:spcPts val="400"/>
              </a:spcBef>
              <a:defRPr sz="950">
                <a:solidFill>
                  <a:srgbClr val="94A3B8"/>
                </a:solidFill>
              </a:defRPr>
            </a:pPr>
            <a:r>
              <a:t>Resolved by architecting a hybrid ingestion model combining live RSS news feeds (Punch, Vanguard, Daily Post) with realistic multi-platform simulators.</a:t>
            </a:r>
          </a:p>
        </p:txBody>
      </p:sp>
      <p:sp>
        <p:nvSpPr>
          <p:cNvPr id="10" name="Rounded Rectangle 9"/>
          <p:cNvSpPr/>
          <p:nvPr/>
        </p:nvSpPr>
        <p:spPr>
          <a:xfrm>
            <a:off x="6172200" y="1463040"/>
            <a:ext cx="5257800" cy="14173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00200"/>
            <a:ext cx="4892040" cy="1143000"/>
          </a:xfrm>
          <a:prstGeom prst="rect">
            <a:avLst/>
          </a:prstGeom>
          <a:noFill/>
        </p:spPr>
        <p:txBody>
          <a:bodyPr wrap="square">
            <a:spAutoFit/>
          </a:bodyPr>
          <a:lstStyle/>
          <a:p>
            <a:pPr>
              <a:defRPr b="1" sz="1100">
                <a:solidFill>
                  <a:srgbClr val="38BDF8"/>
                </a:solidFill>
              </a:defRPr>
            </a:pPr>
            <a:r>
              <a:t>Challenge Solved: CPU Transformer Latency</a:t>
            </a:r>
          </a:p>
          <a:p>
            <a:pPr>
              <a:spcBef>
                <a:spcPts val="400"/>
              </a:spcBef>
              <a:defRPr sz="950">
                <a:solidFill>
                  <a:srgbClr val="94A3B8"/>
                </a:solidFill>
              </a:defRPr>
            </a:pPr>
            <a:r>
              <a:t>Resolved by distilling the model to 6-layer DistilBERT and implementing automatic fallback to NLTK VADER.</a:t>
            </a:r>
          </a:p>
        </p:txBody>
      </p:sp>
      <p:sp>
        <p:nvSpPr>
          <p:cNvPr id="12" name="Rounded Rectangle 11"/>
          <p:cNvSpPr/>
          <p:nvPr/>
        </p:nvSpPr>
        <p:spPr>
          <a:xfrm>
            <a:off x="731520" y="3017520"/>
            <a:ext cx="5257800" cy="141732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54679"/>
            <a:ext cx="4892040" cy="1143000"/>
          </a:xfrm>
          <a:prstGeom prst="rect">
            <a:avLst/>
          </a:prstGeom>
          <a:noFill/>
        </p:spPr>
        <p:txBody>
          <a:bodyPr wrap="square">
            <a:spAutoFit/>
          </a:bodyPr>
          <a:lstStyle/>
          <a:p>
            <a:pPr>
              <a:defRPr b="1" sz="1100">
                <a:solidFill>
                  <a:srgbClr val="F59E0B"/>
                </a:solidFill>
              </a:defRPr>
            </a:pPr>
            <a:r>
              <a:t>Future Frontier 1: Distributed Streaming (Kafka)</a:t>
            </a:r>
          </a:p>
          <a:p>
            <a:pPr>
              <a:spcBef>
                <a:spcPts val="400"/>
              </a:spcBef>
              <a:defRPr sz="950">
                <a:solidFill>
                  <a:srgbClr val="94A3B8"/>
                </a:solidFill>
              </a:defRPr>
            </a:pPr>
            <a:r>
              <a:t>Transition from periodic batch polling to distributed event-driven message streaming via Apache Kafka and Redis for millions of posts/hour.</a:t>
            </a:r>
          </a:p>
        </p:txBody>
      </p:sp>
      <p:sp>
        <p:nvSpPr>
          <p:cNvPr id="14" name="Rounded Rectangle 13"/>
          <p:cNvSpPr/>
          <p:nvPr/>
        </p:nvSpPr>
        <p:spPr>
          <a:xfrm>
            <a:off x="6172200" y="3017520"/>
            <a:ext cx="5257800" cy="14173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3154679"/>
            <a:ext cx="4892040" cy="1143000"/>
          </a:xfrm>
          <a:prstGeom prst="rect">
            <a:avLst/>
          </a:prstGeom>
          <a:noFill/>
        </p:spPr>
        <p:txBody>
          <a:bodyPr wrap="square">
            <a:spAutoFit/>
          </a:bodyPr>
          <a:lstStyle/>
          <a:p>
            <a:pPr>
              <a:defRPr b="1" sz="1100">
                <a:solidFill>
                  <a:srgbClr val="38BDF8"/>
                </a:solidFill>
              </a:defRPr>
            </a:pPr>
            <a:r>
              <a:t>Future Frontier 2: Multilingual Afrocentric LLMs</a:t>
            </a:r>
          </a:p>
          <a:p>
            <a:pPr>
              <a:spcBef>
                <a:spcPts val="400"/>
              </a:spcBef>
              <a:defRPr sz="950">
                <a:solidFill>
                  <a:srgbClr val="94A3B8"/>
                </a:solidFill>
              </a:defRPr>
            </a:pPr>
            <a:r>
              <a:t>Fine-tune Afrocentric models (AfriBERTa / Naija-BERT) for native understanding of Nigerian Pidgin, Yoruba, Hausa, and Igbo political discourse.</a:t>
            </a:r>
          </a:p>
        </p:txBody>
      </p:sp>
      <p:sp>
        <p:nvSpPr>
          <p:cNvPr id="16" name="Rounded Rectangle 15"/>
          <p:cNvSpPr/>
          <p:nvPr/>
        </p:nvSpPr>
        <p:spPr>
          <a:xfrm>
            <a:off x="731520" y="4572000"/>
            <a:ext cx="5257800" cy="1417320"/>
          </a:xfrm>
          <a:prstGeom prst="roundRect">
            <a:avLst/>
          </a:prstGeom>
          <a:solidFill>
            <a:srgbClr val="1E293B"/>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709160"/>
            <a:ext cx="4892040" cy="1143000"/>
          </a:xfrm>
          <a:prstGeom prst="rect">
            <a:avLst/>
          </a:prstGeom>
          <a:noFill/>
        </p:spPr>
        <p:txBody>
          <a:bodyPr wrap="square">
            <a:spAutoFit/>
          </a:bodyPr>
          <a:lstStyle/>
          <a:p>
            <a:pPr>
              <a:defRPr b="1" sz="1100">
                <a:solidFill>
                  <a:srgbClr val="F43F5E"/>
                </a:solidFill>
              </a:defRPr>
            </a:pPr>
            <a:r>
              <a:t>Future Frontier 3: Geospatial GIS Sentiment Heatmaps</a:t>
            </a:r>
          </a:p>
          <a:p>
            <a:pPr>
              <a:spcBef>
                <a:spcPts val="400"/>
              </a:spcBef>
              <a:defRPr sz="950">
                <a:solidFill>
                  <a:srgbClr val="94A3B8"/>
                </a:solidFill>
              </a:defRPr>
            </a:pPr>
            <a:r>
              <a:t>Integrate mapping APIs to visualize voter sentiment granularly across Senatorial Districts and Local Government Areas (LGAs).</a:t>
            </a:r>
          </a:p>
        </p:txBody>
      </p:sp>
      <p:sp>
        <p:nvSpPr>
          <p:cNvPr id="18" name="Rounded Rectangle 17"/>
          <p:cNvSpPr/>
          <p:nvPr/>
        </p:nvSpPr>
        <p:spPr>
          <a:xfrm>
            <a:off x="6172200" y="4572000"/>
            <a:ext cx="5257800" cy="141732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709160"/>
            <a:ext cx="4892040" cy="1143000"/>
          </a:xfrm>
          <a:prstGeom prst="rect">
            <a:avLst/>
          </a:prstGeom>
          <a:noFill/>
        </p:spPr>
        <p:txBody>
          <a:bodyPr wrap="square">
            <a:spAutoFit/>
          </a:bodyPr>
          <a:lstStyle/>
          <a:p>
            <a:pPr>
              <a:defRPr b="1" sz="1100">
                <a:solidFill>
                  <a:srgbClr val="10B981"/>
                </a:solidFill>
              </a:defRPr>
            </a:pPr>
            <a:r>
              <a:t>Future Frontier 4: Inauthentic Bot &amp; Disinformation Detection</a:t>
            </a:r>
          </a:p>
          <a:p>
            <a:pPr>
              <a:spcBef>
                <a:spcPts val="400"/>
              </a:spcBef>
              <a:defRPr sz="950">
                <a:solidFill>
                  <a:srgbClr val="94A3B8"/>
                </a:solidFill>
              </a:defRPr>
            </a:pPr>
            <a:r>
              <a:t>Implement graph neural networks to detect coordinated astroturfing campaigns, bot rings, and artificial sentiment manipulation.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0" y="0"/>
            <a:ext cx="3047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698480" cy="320040"/>
          </a:xfrm>
          <a:prstGeom prst="rect">
            <a:avLst/>
          </a:prstGeom>
          <a:noFill/>
        </p:spPr>
        <p:txBody>
          <a:bodyPr wrap="none" lIns="0" tIns="0" rIns="0" bIns="0">
            <a:spAutoFit/>
          </a:bodyPr>
          <a:lstStyle/>
          <a:p>
            <a:pPr>
              <a:defRPr sz="900">
                <a:solidFill>
                  <a:srgbClr val="94A3B8"/>
                </a:solidFill>
                <a:latin typeface="Arial"/>
              </a:defRPr>
            </a:pPr>
            <a:r>
              <a:t>Olushola Emmanuel Savi (220903032) | Final Year Project Defense | Ekiti State University (EKSU)</a:t>
            </a:r>
          </a:p>
        </p:txBody>
      </p:sp>
      <p:sp>
        <p:nvSpPr>
          <p:cNvPr id="6" name="Rounded Rectangle 5"/>
          <p:cNvSpPr/>
          <p:nvPr/>
        </p:nvSpPr>
        <p:spPr>
          <a:xfrm>
            <a:off x="1645920" y="1097280"/>
            <a:ext cx="8899855" cy="457200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280160"/>
            <a:ext cx="8168335" cy="4206240"/>
          </a:xfrm>
          <a:prstGeom prst="rect">
            <a:avLst/>
          </a:prstGeom>
          <a:noFill/>
        </p:spPr>
        <p:txBody>
          <a:bodyPr wrap="square">
            <a:spAutoFit/>
          </a:bodyPr>
          <a:lstStyle/>
          <a:p>
            <a:pPr algn="ctr">
              <a:defRPr b="1" sz="2400">
                <a:solidFill>
                  <a:srgbClr val="10B981"/>
                </a:solidFill>
              </a:defRPr>
            </a:pPr>
            <a:r>
              <a:t>THANK YOU FOR LISTENING!</a:t>
            </a:r>
          </a:p>
          <a:p>
            <a:pPr algn="ctr">
              <a:spcBef>
                <a:spcPts val="1200"/>
              </a:spcBef>
              <a:defRPr b="1" sz="1400">
                <a:solidFill>
                  <a:srgbClr val="38BDF8"/>
                </a:solidFill>
              </a:defRPr>
            </a:pPr>
            <a:r>
              <a:t>Conclusion: Transforming Political Chatter into Democratic Intelligence</a:t>
            </a:r>
          </a:p>
          <a:p>
            <a:pPr algn="ctr">
              <a:spcBef>
                <a:spcPts val="800"/>
              </a:spcBef>
              <a:defRPr sz="1100">
                <a:solidFill>
                  <a:srgbClr val="F8FAFC"/>
                </a:solidFill>
              </a:defRPr>
            </a:pPr>
            <a:r>
              <a:t>This platform provides election observers, campaigns, journalists, and citizens with a transparent, data-driven, and cost-effective computational instrument for gauging public sentiment during the 2027 Gubernatorial Elections in Nigeria.</a:t>
            </a:r>
          </a:p>
          <a:p>
            <a:pPr algn="ctr">
              <a:spcBef>
                <a:spcPts val="1600"/>
              </a:spcBef>
              <a:defRPr sz="950">
                <a:solidFill>
                  <a:srgbClr val="94A3B8"/>
                </a:solidFill>
              </a:defRPr>
            </a:pPr>
            <a:r>
              <a:t>Project Artifacts &amp; Deliverables:</a:t>
            </a:r>
            <a:br/>
            <a:r>
              <a:t>• 14,206-Word Academic Project Report (Hotel_Management_System_Final_Project_Report.docx)</a:t>
            </a:r>
            <a:br/>
            <a:r>
              <a:t>• Full Python/Django Codebase with 21 Verified Automated Tests</a:t>
            </a:r>
            <a:br/>
            <a:r>
              <a:t>• Architectural Implementation Guide (Project_Overview.pdf)</a:t>
            </a:r>
          </a:p>
          <a:p>
            <a:pPr algn="ctr">
              <a:spcBef>
                <a:spcPts val="1400"/>
              </a:spcBef>
              <a:defRPr b="1" sz="1100">
                <a:solidFill>
                  <a:srgbClr val="10B981"/>
                </a:solidFill>
              </a:defRPr>
            </a:pPr>
            <a:r>
              <a:t>OLUSHOLA EMMANUEL SAVI  |  MATRICULATION NO: 220903032</a:t>
            </a:r>
            <a:br/>
            <a:r>
              <a:t>Supervisor: MR. OWOEYE  |  Ekiti State University, Ado-Ekiti (EKSU)</a:t>
            </a:r>
          </a:p>
          <a:p>
            <a:pPr algn="ctr">
              <a:spcBef>
                <a:spcPts val="1000"/>
              </a:spcBef>
              <a:defRPr i="1" sz="1200">
                <a:solidFill>
                  <a:srgbClr val="38BDF8"/>
                </a:solidFill>
              </a:defRPr>
            </a:pPr>
            <a:r>
              <a:t>Questions, Feedback &amp; Discussion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